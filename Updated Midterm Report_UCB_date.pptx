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1" r:id="rId6"/>
    <p:sldMasterId id="214748367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y="6858000" cx="9906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94AaV17khdl1Gz39dK9kqySljJ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Francesco Borrelli"/>
  <p:cmAuthor clrIdx="1" id="1" initials="" lastIdx="1" name="Mark Pustilnik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9863AD-726C-4096-BFBB-B912E0516056}">
  <a:tblStyle styleId="{899863AD-726C-4096-BFBB-B912E051605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customschemas.google.com/relationships/presentationmetadata" Target="meta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9-20T00:32:34.396">
    <p:pos x="6000" y="0"/>
    <p:text>@pkmark@berkeley.edu  Too negative, can we say m first delayed, now up to speed? or catching up
_Reassigned to pkmark@berkeley.edu_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rVv2X60"/>
      </p:ext>
    </p:extLst>
  </p:cm>
  <p:cm authorId="1" idx="1" dt="2025-09-20T00:32:34.396">
    <p:pos x="6000" y="0"/>
    <p:text>I put this slide on hide. I don't know if we need to present it. we don't have any defined schedule. We only have the first item - basic study</p:text>
    <p:extLst>
      <p:ext uri="{C676402C-5697-4E1C-873F-D02D1690AC5C}">
        <p15:threadingInfo timeZoneBias="0">
          <p15:parentCm authorId="0" idx="1"/>
        </p15:threadingInfo>
      </p:ext>
      <p:ext uri="http://customooxmlschemas.google.com/">
        <go:slidesCustomData xmlns:go="http://customooxmlschemas.google.com/" commentPostId="AAABrVgmrgQ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:notes"/>
          <p:cNvSpPr txBox="1"/>
          <p:nvPr>
            <p:ph idx="12" type="sldNum"/>
          </p:nvPr>
        </p:nvSpPr>
        <p:spPr>
          <a:xfrm>
            <a:off x="3851280" y="9428040"/>
            <a:ext cx="2944440" cy="496440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400" spcFirstLastPara="1" rIns="95400" wrap="square" tIns="47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:notes"/>
          <p:cNvSpPr/>
          <p:nvPr>
            <p:ph idx="2" type="sldImg"/>
          </p:nvPr>
        </p:nvSpPr>
        <p:spPr>
          <a:xfrm>
            <a:off x="712800" y="746280"/>
            <a:ext cx="5373360" cy="3720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:notes"/>
          <p:cNvSpPr txBox="1"/>
          <p:nvPr>
            <p:ph idx="1" type="body"/>
          </p:nvPr>
        </p:nvSpPr>
        <p:spPr>
          <a:xfrm>
            <a:off x="679320" y="4716360"/>
            <a:ext cx="5438520" cy="4465440"/>
          </a:xfrm>
          <a:prstGeom prst="rect">
            <a:avLst/>
          </a:prstGeom>
          <a:noFill/>
          <a:ln>
            <a:noFill/>
          </a:ln>
        </p:spPr>
        <p:txBody>
          <a:bodyPr anchorCtr="0" anchor="t" bIns="47500" lIns="95400" spcFirstLastPara="1" rIns="95400" wrap="square" tIns="47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3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4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5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8efce1221_0_222:notes"/>
          <p:cNvSpPr/>
          <p:nvPr>
            <p:ph idx="2" type="sldImg"/>
          </p:nvPr>
        </p:nvSpPr>
        <p:spPr>
          <a:xfrm>
            <a:off x="2010597" y="744242"/>
            <a:ext cx="2776200" cy="3722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g398efce1221_0_222:notes"/>
          <p:cNvSpPr txBox="1"/>
          <p:nvPr>
            <p:ph idx="1" type="body"/>
          </p:nvPr>
        </p:nvSpPr>
        <p:spPr>
          <a:xfrm>
            <a:off x="679680" y="4715232"/>
            <a:ext cx="5438100" cy="4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98efce1221_0_222:notes"/>
          <p:cNvSpPr txBox="1"/>
          <p:nvPr>
            <p:ph idx="12" type="sldNum"/>
          </p:nvPr>
        </p:nvSpPr>
        <p:spPr>
          <a:xfrm>
            <a:off x="3850378" y="9428425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8efce1221_0_6:notes"/>
          <p:cNvSpPr/>
          <p:nvPr>
            <p:ph idx="2" type="sldImg"/>
          </p:nvPr>
        </p:nvSpPr>
        <p:spPr>
          <a:xfrm>
            <a:off x="2010597" y="744242"/>
            <a:ext cx="2776200" cy="3722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398efce1221_0_6:notes"/>
          <p:cNvSpPr txBox="1"/>
          <p:nvPr>
            <p:ph idx="1" type="body"/>
          </p:nvPr>
        </p:nvSpPr>
        <p:spPr>
          <a:xfrm>
            <a:off x="679680" y="4715232"/>
            <a:ext cx="5438100" cy="4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98efce1221_0_6:notes"/>
          <p:cNvSpPr txBox="1"/>
          <p:nvPr>
            <p:ph idx="12" type="sldNum"/>
          </p:nvPr>
        </p:nvSpPr>
        <p:spPr>
          <a:xfrm>
            <a:off x="3850378" y="9428425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8efce1221_0_67:notes"/>
          <p:cNvSpPr/>
          <p:nvPr>
            <p:ph idx="2" type="sldImg"/>
          </p:nvPr>
        </p:nvSpPr>
        <p:spPr>
          <a:xfrm>
            <a:off x="2010597" y="744242"/>
            <a:ext cx="2776200" cy="3722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g398efce1221_0_67:notes"/>
          <p:cNvSpPr txBox="1"/>
          <p:nvPr>
            <p:ph idx="1" type="body"/>
          </p:nvPr>
        </p:nvSpPr>
        <p:spPr>
          <a:xfrm>
            <a:off x="679680" y="4715232"/>
            <a:ext cx="5438100" cy="4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98efce1221_0_67:notes"/>
          <p:cNvSpPr txBox="1"/>
          <p:nvPr>
            <p:ph idx="12" type="sldNum"/>
          </p:nvPr>
        </p:nvSpPr>
        <p:spPr>
          <a:xfrm>
            <a:off x="3850378" y="9428425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8efce1221_0_73:notes"/>
          <p:cNvSpPr/>
          <p:nvPr>
            <p:ph idx="2" type="sldImg"/>
          </p:nvPr>
        </p:nvSpPr>
        <p:spPr>
          <a:xfrm>
            <a:off x="2010597" y="744242"/>
            <a:ext cx="2776200" cy="3722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g398efce1221_0_73:notes"/>
          <p:cNvSpPr txBox="1"/>
          <p:nvPr>
            <p:ph idx="1" type="body"/>
          </p:nvPr>
        </p:nvSpPr>
        <p:spPr>
          <a:xfrm>
            <a:off x="679680" y="4715232"/>
            <a:ext cx="5438100" cy="4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92150" spcFirstLastPara="1" rIns="92150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98efce1221_0_73:notes"/>
          <p:cNvSpPr txBox="1"/>
          <p:nvPr>
            <p:ph idx="12" type="sldNum"/>
          </p:nvPr>
        </p:nvSpPr>
        <p:spPr>
          <a:xfrm>
            <a:off x="3850378" y="9428425"/>
            <a:ext cx="29454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75" lIns="92150" spcFirstLastPara="1" rIns="92150" wrap="square" tIns="460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98efce1221_0_79:notes"/>
          <p:cNvSpPr txBox="1"/>
          <p:nvPr>
            <p:ph idx="1" type="body"/>
          </p:nvPr>
        </p:nvSpPr>
        <p:spPr>
          <a:xfrm>
            <a:off x="568330" y="6764956"/>
            <a:ext cx="4546200" cy="6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98efce1221_0_79:notes"/>
          <p:cNvSpPr/>
          <p:nvPr>
            <p:ph idx="2" type="sldImg"/>
          </p:nvPr>
        </p:nvSpPr>
        <p:spPr>
          <a:xfrm>
            <a:off x="849735" y="1082209"/>
            <a:ext cx="3983400" cy="53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8efce1221_0_89:notes"/>
          <p:cNvSpPr txBox="1"/>
          <p:nvPr>
            <p:ph idx="1" type="body"/>
          </p:nvPr>
        </p:nvSpPr>
        <p:spPr>
          <a:xfrm>
            <a:off x="568330" y="6764956"/>
            <a:ext cx="4546200" cy="6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98efce1221_0_89:notes"/>
          <p:cNvSpPr/>
          <p:nvPr>
            <p:ph idx="2" type="sldImg"/>
          </p:nvPr>
        </p:nvSpPr>
        <p:spPr>
          <a:xfrm>
            <a:off x="849735" y="1082209"/>
            <a:ext cx="3983400" cy="53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8efce1221_0_96:notes"/>
          <p:cNvSpPr txBox="1"/>
          <p:nvPr>
            <p:ph idx="1" type="body"/>
          </p:nvPr>
        </p:nvSpPr>
        <p:spPr>
          <a:xfrm>
            <a:off x="568330" y="6764956"/>
            <a:ext cx="4546200" cy="6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98efce1221_0_96:notes"/>
          <p:cNvSpPr/>
          <p:nvPr>
            <p:ph idx="2" type="sldImg"/>
          </p:nvPr>
        </p:nvSpPr>
        <p:spPr>
          <a:xfrm>
            <a:off x="849735" y="1082209"/>
            <a:ext cx="3983400" cy="53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8efce1221_0_104:notes"/>
          <p:cNvSpPr txBox="1"/>
          <p:nvPr>
            <p:ph idx="1" type="body"/>
          </p:nvPr>
        </p:nvSpPr>
        <p:spPr>
          <a:xfrm>
            <a:off x="568330" y="6764956"/>
            <a:ext cx="4546200" cy="64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98efce1221_0_104:notes"/>
          <p:cNvSpPr/>
          <p:nvPr>
            <p:ph idx="2" type="sldImg"/>
          </p:nvPr>
        </p:nvSpPr>
        <p:spPr>
          <a:xfrm>
            <a:off x="849735" y="1082209"/>
            <a:ext cx="3983400" cy="53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8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81273d4432_0_3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g381273d4432_0_3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81273d4432_0_1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g381273d4432_0_1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1273d4432_0_17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g381273d4432_0_17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9:notes"/>
          <p:cNvSpPr txBox="1"/>
          <p:nvPr>
            <p:ph idx="12" type="sldNum"/>
          </p:nvPr>
        </p:nvSpPr>
        <p:spPr>
          <a:xfrm>
            <a:off x="3851280" y="9428040"/>
            <a:ext cx="2944440" cy="496440"/>
          </a:xfrm>
          <a:prstGeom prst="rect">
            <a:avLst/>
          </a:prstGeom>
          <a:noFill/>
          <a:ln>
            <a:noFill/>
          </a:ln>
        </p:spPr>
        <p:txBody>
          <a:bodyPr anchorCtr="0" anchor="b" bIns="47500" lIns="95400" spcFirstLastPara="1" rIns="95400" wrap="square" tIns="475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ulim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9:notes"/>
          <p:cNvSpPr/>
          <p:nvPr>
            <p:ph idx="2" type="sldImg"/>
          </p:nvPr>
        </p:nvSpPr>
        <p:spPr>
          <a:xfrm>
            <a:off x="712800" y="743040"/>
            <a:ext cx="5378040" cy="37238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9:notes"/>
          <p:cNvSpPr txBox="1"/>
          <p:nvPr>
            <p:ph idx="1" type="body"/>
          </p:nvPr>
        </p:nvSpPr>
        <p:spPr>
          <a:xfrm>
            <a:off x="682560" y="4714920"/>
            <a:ext cx="5433480" cy="4468320"/>
          </a:xfrm>
          <a:prstGeom prst="rect">
            <a:avLst/>
          </a:prstGeom>
          <a:noFill/>
          <a:ln>
            <a:noFill/>
          </a:ln>
        </p:spPr>
        <p:txBody>
          <a:bodyPr anchorCtr="0" anchor="t" bIns="47500" lIns="95400" spcFirstLastPara="1" rIns="95400" wrap="square" tIns="47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0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10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idx="1"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3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4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8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" type="body"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2" type="body"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3" type="body"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4" type="body"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5" type="body"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6" type="body"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5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9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"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9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0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30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1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1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31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2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32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3"/>
          <p:cNvSpPr txBox="1"/>
          <p:nvPr>
            <p:ph idx="1"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3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33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4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4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4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4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4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34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5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5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5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3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5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5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35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6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6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6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3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6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36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7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7"/>
          <p:cNvSpPr txBox="1"/>
          <p:nvPr>
            <p:ph idx="1" type="body"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7"/>
          <p:cNvSpPr txBox="1"/>
          <p:nvPr>
            <p:ph idx="2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7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7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37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8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8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8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8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8"/>
          <p:cNvSpPr txBox="1"/>
          <p:nvPr>
            <p:ph idx="4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8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8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38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9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9"/>
          <p:cNvSpPr txBox="1"/>
          <p:nvPr>
            <p:ph idx="1" type="body"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9"/>
          <p:cNvSpPr txBox="1"/>
          <p:nvPr>
            <p:ph idx="2" type="body"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9"/>
          <p:cNvSpPr txBox="1"/>
          <p:nvPr>
            <p:ph idx="3" type="body"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9"/>
          <p:cNvSpPr txBox="1"/>
          <p:nvPr>
            <p:ph idx="4" type="body"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5" type="body"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6" type="body"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9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9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39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0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40"/>
          <p:cNvSpPr txBox="1"/>
          <p:nvPr>
            <p:ph idx="1"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0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1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1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41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2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42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42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2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3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3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4"/>
          <p:cNvSpPr txBox="1"/>
          <p:nvPr>
            <p:ph idx="1"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4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5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5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5"/>
          <p:cNvSpPr txBox="1"/>
          <p:nvPr>
            <p:ph idx="2" type="body"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5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45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6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6"/>
          <p:cNvSpPr txBox="1"/>
          <p:nvPr>
            <p:ph idx="1" type="body"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6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46"/>
          <p:cNvSpPr txBox="1"/>
          <p:nvPr>
            <p:ph idx="3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46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7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7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7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7"/>
          <p:cNvSpPr txBox="1"/>
          <p:nvPr>
            <p:ph idx="3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7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8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8"/>
          <p:cNvSpPr txBox="1"/>
          <p:nvPr>
            <p:ph idx="1" type="body"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8"/>
          <p:cNvSpPr txBox="1"/>
          <p:nvPr>
            <p:ph idx="2" type="body"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48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9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49"/>
          <p:cNvSpPr txBox="1"/>
          <p:nvPr>
            <p:ph idx="1" type="body"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49"/>
          <p:cNvSpPr txBox="1"/>
          <p:nvPr>
            <p:ph idx="2" type="body"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9"/>
          <p:cNvSpPr txBox="1"/>
          <p:nvPr>
            <p:ph idx="3" type="body"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49"/>
          <p:cNvSpPr txBox="1"/>
          <p:nvPr>
            <p:ph idx="4" type="body"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49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0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50"/>
          <p:cNvSpPr txBox="1"/>
          <p:nvPr>
            <p:ph idx="1" type="body"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0"/>
          <p:cNvSpPr txBox="1"/>
          <p:nvPr>
            <p:ph idx="2" type="body"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0"/>
          <p:cNvSpPr txBox="1"/>
          <p:nvPr>
            <p:ph idx="3" type="body"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0"/>
          <p:cNvSpPr txBox="1"/>
          <p:nvPr>
            <p:ph idx="4" type="body"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50"/>
          <p:cNvSpPr txBox="1"/>
          <p:nvPr>
            <p:ph idx="5" type="body"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0"/>
          <p:cNvSpPr txBox="1"/>
          <p:nvPr>
            <p:ph idx="6" type="body"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0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2"/>
          <p:cNvCxnSpPr/>
          <p:nvPr/>
        </p:nvCxnSpPr>
        <p:spPr>
          <a:xfrm flipH="1" rot="10800000">
            <a:off x="358560" y="728640"/>
            <a:ext cx="9185400" cy="468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2"/>
          <p:cNvSpPr/>
          <p:nvPr/>
        </p:nvSpPr>
        <p:spPr>
          <a:xfrm>
            <a:off x="7677000" y="6492960"/>
            <a:ext cx="22284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/>
          <p:nvPr/>
        </p:nvSpPr>
        <p:spPr>
          <a:xfrm>
            <a:off x="358920" y="728640"/>
            <a:ext cx="3600000" cy="3600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2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4"/>
          <p:cNvCxnSpPr/>
          <p:nvPr/>
        </p:nvCxnSpPr>
        <p:spPr>
          <a:xfrm flipH="1" rot="10800000">
            <a:off x="358560" y="728640"/>
            <a:ext cx="9185400" cy="468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4"/>
          <p:cNvSpPr/>
          <p:nvPr/>
        </p:nvSpPr>
        <p:spPr>
          <a:xfrm>
            <a:off x="7677000" y="6492960"/>
            <a:ext cx="22284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58920" y="728640"/>
            <a:ext cx="3600000" cy="3600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95360" y="6245280"/>
            <a:ext cx="231120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384720" y="6245280"/>
            <a:ext cx="31366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1667520" y="6581880"/>
            <a:ext cx="6570360" cy="2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HYUNDAI MOTOR GROUP   -   000 University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" name="Google Shape;158;p16"/>
          <p:cNvCxnSpPr/>
          <p:nvPr/>
        </p:nvCxnSpPr>
        <p:spPr>
          <a:xfrm flipH="1" rot="10800000">
            <a:off x="358560" y="728640"/>
            <a:ext cx="9185400" cy="468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16"/>
          <p:cNvSpPr/>
          <p:nvPr/>
        </p:nvSpPr>
        <p:spPr>
          <a:xfrm>
            <a:off x="7677000" y="6492960"/>
            <a:ext cx="222840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358920" y="728640"/>
            <a:ext cx="3600000" cy="3600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6"/>
          <p:cNvSpPr txBox="1"/>
          <p:nvPr>
            <p:ph idx="12" type="sldNum"/>
          </p:nvPr>
        </p:nvSpPr>
        <p:spPr>
          <a:xfrm>
            <a:off x="9513720" y="6588000"/>
            <a:ext cx="391680" cy="269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1667520" y="6581880"/>
            <a:ext cx="6570360" cy="24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HYUNDAI MOTOR GROUP   -   000 University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 txBox="1"/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"/>
          <p:cNvSpPr/>
          <p:nvPr/>
        </p:nvSpPr>
        <p:spPr>
          <a:xfrm>
            <a:off x="0" y="0"/>
            <a:ext cx="9905700" cy="6857700"/>
          </a:xfrm>
          <a:prstGeom prst="rect">
            <a:avLst/>
          </a:prstGeom>
          <a:noFill/>
          <a:ln cap="flat" cmpd="sng" w="190500">
            <a:solidFill>
              <a:srgbClr val="F2F2F2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"/>
          <p:cNvSpPr/>
          <p:nvPr/>
        </p:nvSpPr>
        <p:spPr>
          <a:xfrm>
            <a:off x="0" y="0"/>
            <a:ext cx="9905760" cy="685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2" name="Google Shape;232;p1"/>
          <p:cNvGrpSpPr/>
          <p:nvPr/>
        </p:nvGrpSpPr>
        <p:grpSpPr>
          <a:xfrm>
            <a:off x="1818468" y="1070278"/>
            <a:ext cx="6304194" cy="1954080"/>
            <a:chOff x="2330280" y="1070280"/>
            <a:chExt cx="5220000" cy="1954080"/>
          </a:xfrm>
        </p:grpSpPr>
        <p:grpSp>
          <p:nvGrpSpPr>
            <p:cNvPr id="233" name="Google Shape;233;p1"/>
            <p:cNvGrpSpPr/>
            <p:nvPr/>
          </p:nvGrpSpPr>
          <p:grpSpPr>
            <a:xfrm>
              <a:off x="2612880" y="1534320"/>
              <a:ext cx="4679640" cy="1170720"/>
              <a:chOff x="2612880" y="1534320"/>
              <a:chExt cx="4679640" cy="1170720"/>
            </a:xfrm>
          </p:grpSpPr>
          <p:cxnSp>
            <p:nvCxnSpPr>
              <p:cNvPr id="234" name="Google Shape;234;p1"/>
              <p:cNvCxnSpPr/>
              <p:nvPr/>
            </p:nvCxnSpPr>
            <p:spPr>
              <a:xfrm>
                <a:off x="2612880" y="1534320"/>
                <a:ext cx="4679640" cy="36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5" name="Google Shape;235;p1"/>
              <p:cNvCxnSpPr/>
              <p:nvPr/>
            </p:nvCxnSpPr>
            <p:spPr>
              <a:xfrm>
                <a:off x="2612880" y="2704680"/>
                <a:ext cx="4679640" cy="36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33339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36" name="Google Shape;236;p1"/>
            <p:cNvSpPr/>
            <p:nvPr/>
          </p:nvSpPr>
          <p:spPr>
            <a:xfrm>
              <a:off x="2343240" y="1224000"/>
              <a:ext cx="167400" cy="1800000"/>
            </a:xfrm>
            <a:custGeom>
              <a:rect b="b" l="l" r="r" t="t"/>
              <a:pathLst>
                <a:path extrusionOk="0" h="1470660" w="16764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cap="flat" cmpd="sng" w="762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37" name="Google Shape;237;p1"/>
            <p:cNvSpPr/>
            <p:nvPr/>
          </p:nvSpPr>
          <p:spPr>
            <a:xfrm rot="10800000">
              <a:off x="7382880" y="1224360"/>
              <a:ext cx="167400" cy="1800000"/>
            </a:xfrm>
            <a:custGeom>
              <a:rect b="b" l="l" r="r" t="t"/>
              <a:pathLst>
                <a:path extrusionOk="0" h="1470660" w="16764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cap="flat" cmpd="sng" w="76200">
              <a:solidFill>
                <a:srgbClr val="333399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238" name="Google Shape;238;p1"/>
            <p:cNvSpPr/>
            <p:nvPr/>
          </p:nvSpPr>
          <p:spPr>
            <a:xfrm>
              <a:off x="2330280" y="1070280"/>
              <a:ext cx="5218920" cy="43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000" lIns="90000" spcFirstLastPara="1" rIns="90000" wrap="square" tIns="45000">
              <a:spAutoFit/>
            </a:bodyPr>
            <a:lstStyle/>
            <a:p>
              <a:pPr indent="0" lvl="0" marL="0" marR="0" rtl="0" algn="ctr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99"/>
                </a:buClr>
                <a:buSzPts val="1400"/>
                <a:buFont typeface="Malgun Gothic"/>
                <a:buNone/>
              </a:pPr>
              <a:r>
                <a:rPr b="1" i="0" lang="en-US" sz="1400" u="none" cap="none" strike="noStrike">
                  <a:solidFill>
                    <a:srgbClr val="333399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Midterm meeting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1"/>
          <p:cNvSpPr/>
          <p:nvPr/>
        </p:nvSpPr>
        <p:spPr>
          <a:xfrm>
            <a:off x="1996200" y="1755360"/>
            <a:ext cx="5917680" cy="70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Road Grade-Aware Energy Consumption Modeling for EVs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"/>
          <p:cNvSpPr/>
          <p:nvPr/>
        </p:nvSpPr>
        <p:spPr>
          <a:xfrm>
            <a:off x="2343240" y="2664360"/>
            <a:ext cx="5219280" cy="79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○○ University of California, Berkeley,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○○ Mechanical Engineering,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40404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Prof. Francesco Borrelli ○○○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"/>
          <p:cNvSpPr/>
          <p:nvPr/>
        </p:nvSpPr>
        <p:spPr>
          <a:xfrm>
            <a:off x="2567160" y="5177880"/>
            <a:ext cx="4771800" cy="33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August 2025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:\그룹로고\현대자동차그룹.png" id="242" name="Google Shape;24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080" y="5854680"/>
            <a:ext cx="1733040" cy="626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"/>
          <p:cNvSpPr/>
          <p:nvPr/>
        </p:nvSpPr>
        <p:spPr>
          <a:xfrm>
            <a:off x="6157800" y="6005520"/>
            <a:ext cx="1213920" cy="35856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5943600"/>
            <a:ext cx="256104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"/>
          <p:cNvSpPr/>
          <p:nvPr/>
        </p:nvSpPr>
        <p:spPr>
          <a:xfrm rot="5400000">
            <a:off x="11100" y="0"/>
            <a:ext cx="1304700" cy="1304700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"/>
          <p:cNvSpPr/>
          <p:nvPr/>
        </p:nvSpPr>
        <p:spPr>
          <a:xfrm rot="-5400000">
            <a:off x="8600370" y="5546070"/>
            <a:ext cx="1306200" cy="1304700"/>
          </a:xfrm>
          <a:prstGeom prst="rtTriangl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"/>
          <p:cNvSpPr/>
          <p:nvPr/>
        </p:nvSpPr>
        <p:spPr>
          <a:xfrm>
            <a:off x="299880" y="18252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◆ List of researchers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2" name="Google Shape;252;p2"/>
          <p:cNvGraphicFramePr/>
          <p:nvPr/>
        </p:nvGraphicFramePr>
        <p:xfrm>
          <a:off x="401760" y="1042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{899863AD-726C-4096-BFBB-B912E0516056}</a:tableStyleId>
              </a:tblPr>
              <a:tblGrid>
                <a:gridCol w="995050"/>
                <a:gridCol w="1846075"/>
                <a:gridCol w="787325"/>
                <a:gridCol w="787325"/>
                <a:gridCol w="1620725"/>
                <a:gridCol w="3069000"/>
              </a:tblGrid>
              <a:tr h="403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Classification 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Department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Name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Position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Email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Role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801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director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Dept. of Mechanical Engineering, UC Berkeley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Francesco Borrelli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Professor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9999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999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fborrelli@berkeley.edu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Research Director, Head of MPC lab at UC Berkeley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5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Main researcher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Dept. of Mechanical Engineering, UC Berkeley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Mark Pustilnik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PhD Candidate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9999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999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pkmark@berkeley.edu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PhD Student at the MPC lab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Researchers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Dept. of Mechanical Engineering, UC Berkeley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Yongkeun Choi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Post Doc.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9999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9999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yk90@berkeley.edu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1100"/>
                        <a:buFont typeface="Malgun Gothic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A6A6A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Past Post Doc at the lab. Initiated the project</a:t>
                      </a:r>
                      <a:endParaRPr b="0"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"/>
          <p:cNvSpPr/>
          <p:nvPr/>
        </p:nvSpPr>
        <p:spPr>
          <a:xfrm>
            <a:off x="316080" y="17316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8" name="Google Shape;258;p3"/>
          <p:cNvGraphicFramePr/>
          <p:nvPr/>
        </p:nvGraphicFramePr>
        <p:xfrm>
          <a:off x="2574000" y="149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{899863AD-726C-4096-BFBB-B912E0516056}</a:tableStyleId>
              </a:tblPr>
              <a:tblGrid>
                <a:gridCol w="3848050"/>
                <a:gridCol w="909350"/>
              </a:tblGrid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Background of the research 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 startAt="2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goal and expected effect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 startAt="3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progress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 startAt="4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contents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   1. </a:t>
                      </a: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Samples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   2. </a:t>
                      </a: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Filter and Normalization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b="0" lang="en-US" sz="14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   3. </a:t>
                      </a: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Data Analysis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9-10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 startAt="5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Midterm research results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275">
                <a:tc>
                  <a:txBody>
                    <a:bodyPr/>
                    <a:lstStyle/>
                    <a:p>
                      <a:pPr indent="-361800" lvl="1" marL="3618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AutoNum type="romanUcPeriod" startAt="6"/>
                      </a:pPr>
                      <a:r>
                        <a:rPr b="1" lang="en-US" sz="16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Future research plan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en-US" sz="14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725">
                <a:tc>
                  <a:txBody>
                    <a:bodyPr/>
                    <a:lstStyle/>
                    <a:p>
                      <a:pPr indent="0" lvl="0" marL="9144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Malgun Gothic"/>
                        <a:buNone/>
                      </a:pPr>
                      <a:r>
                        <a:t/>
                      </a:r>
                      <a:endParaRPr b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"/>
          <p:cNvSpPr/>
          <p:nvPr/>
        </p:nvSpPr>
        <p:spPr>
          <a:xfrm>
            <a:off x="316080" y="17316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61800" lvl="0" marL="36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Background of the research 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"/>
          <p:cNvSpPr/>
          <p:nvPr/>
        </p:nvSpPr>
        <p:spPr>
          <a:xfrm>
            <a:off x="452525" y="954000"/>
            <a:ext cx="8772300" cy="5535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-3302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Motivation:</a:t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Char char="○"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EV range prediction is critical for adoption and user confidence (fight range anxiety).</a:t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Char char="○"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Current models lack accuracy on hilly roads.</a:t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Char char="●"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Problem Statement</a:t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Char char="○"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Road grade has a significant impact on energy consumption</a:t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Char char="○"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Most models are generic, not vehicle-specific</a:t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Char char="○"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Identify the main parameters affecting the energy consumption of EV on sloped roads</a:t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Char char="●"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Necessity</a:t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Char char="○"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Develop and validate a physics/empirical model tailored for real vehicles on real roads</a:t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30200" lvl="1" marL="9144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algun Gothic"/>
              <a:buChar char="○"/>
            </a:pPr>
            <a:r>
              <a:rPr b="1" i="0" lang="en-US" sz="16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Incorporate an grade aware energy model in a car path planner</a:t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Google Shape;269;p5"/>
          <p:cNvGraphicFramePr/>
          <p:nvPr/>
        </p:nvGraphicFramePr>
        <p:xfrm>
          <a:off x="361800" y="907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{899863AD-726C-4096-BFBB-B912E0516056}</a:tableStyleId>
              </a:tblPr>
              <a:tblGrid>
                <a:gridCol w="1298725"/>
                <a:gridCol w="7883075"/>
              </a:tblGrid>
              <a:tr h="2323800">
                <a:tc>
                  <a:txBody>
                    <a:bodyPr/>
                    <a:lstStyle/>
                    <a:p>
                      <a:pPr indent="-304920" lvl="0" marL="30492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goal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32385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500"/>
                        <a:buFont typeface="Malgun Gothic"/>
                        <a:buChar char="●"/>
                      </a:pPr>
                      <a:r>
                        <a:rPr b="1" lang="en-US" sz="1500" u="none" cap="none" strike="noStrike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Collect real world data of energy consumption, road grade and other relevant parameters</a:t>
                      </a:r>
                      <a:endParaRPr b="1" sz="1500" u="none" cap="none" strike="noStrike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32385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500"/>
                        <a:buFont typeface="Malgun Gothic"/>
                        <a:buChar char="●"/>
                      </a:pPr>
                      <a:r>
                        <a:rPr b="1" lang="en-US" sz="1500" u="none" cap="none" strike="noStrike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Analyze and identify the main parameters that affect the energy consumption on roads with different grades</a:t>
                      </a:r>
                      <a:endParaRPr b="1" sz="1500" u="none" cap="none" strike="noStrike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32385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500"/>
                        <a:buFont typeface="Malgun Gothic"/>
                        <a:buChar char="●"/>
                      </a:pPr>
                      <a:r>
                        <a:rPr b="1" lang="en-US" sz="1500" u="none" cap="none" strike="noStrike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Build and validate a road grade–aware energy model for electric vehicles</a:t>
                      </a:r>
                      <a:endParaRPr b="1" sz="1500" u="none" cap="none" strike="noStrike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57650">
                <a:tc>
                  <a:txBody>
                    <a:bodyPr/>
                    <a:lstStyle/>
                    <a:p>
                      <a:pPr indent="-304920" lvl="0" marL="304920" marR="0" rtl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Expected effect</a:t>
                      </a:r>
                      <a:endParaRPr b="0"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-33655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700"/>
                        <a:buFont typeface="Malgun Gothic"/>
                        <a:buChar char="●"/>
                      </a:pPr>
                      <a:r>
                        <a:rPr b="1" lang="en-US" sz="1700" u="none" cap="none" strike="noStrike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Improve the accuracy of trajectory planning with grade aware models</a:t>
                      </a:r>
                      <a:endParaRPr b="1" sz="1700" u="none" cap="none" strike="noStrike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-336550" lvl="0" marL="457200" marR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ts val="1700"/>
                        <a:buFont typeface="Malgun Gothic"/>
                        <a:buChar char="●"/>
                      </a:pPr>
                      <a:r>
                        <a:rPr b="1" lang="en-US" sz="1700" u="none" cap="none" strike="noStrike">
                          <a:solidFill>
                            <a:srgbClr val="FF33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lower the probability of energy distress of an EV due to higher than expected road grades</a:t>
                      </a:r>
                      <a:endParaRPr b="1" sz="1700" u="none" cap="none" strike="noStrike">
                        <a:solidFill>
                          <a:srgbClr val="FF33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0" name="Google Shape;270;p5"/>
          <p:cNvSpPr/>
          <p:nvPr/>
        </p:nvSpPr>
        <p:spPr>
          <a:xfrm>
            <a:off x="260280" y="18252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61800" lvl="0" marL="36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2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goal and expected effect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7"/>
          <p:cNvCxnSpPr/>
          <p:nvPr/>
        </p:nvCxnSpPr>
        <p:spPr>
          <a:xfrm>
            <a:off x="2352600" y="1564920"/>
            <a:ext cx="360" cy="360"/>
          </a:xfrm>
          <a:prstGeom prst="straightConnector1">
            <a:avLst/>
          </a:prstGeom>
          <a:noFill/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6" name="Google Shape;276;p7"/>
          <p:cNvCxnSpPr/>
          <p:nvPr/>
        </p:nvCxnSpPr>
        <p:spPr>
          <a:xfrm>
            <a:off x="2352600" y="2022120"/>
            <a:ext cx="360" cy="360"/>
          </a:xfrm>
          <a:prstGeom prst="straightConnector1">
            <a:avLst/>
          </a:prstGeom>
          <a:noFill/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7"/>
          <p:cNvCxnSpPr/>
          <p:nvPr/>
        </p:nvCxnSpPr>
        <p:spPr>
          <a:xfrm>
            <a:off x="2352600" y="4079520"/>
            <a:ext cx="360" cy="360"/>
          </a:xfrm>
          <a:prstGeom prst="straightConnector1">
            <a:avLst/>
          </a:prstGeom>
          <a:noFill/>
          <a:ln cap="rnd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78" name="Google Shape;278;p7"/>
          <p:cNvGraphicFramePr/>
          <p:nvPr/>
        </p:nvGraphicFramePr>
        <p:xfrm>
          <a:off x="361800" y="1081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{899863AD-726C-4096-BFBB-B912E0516056}</a:tableStyleId>
              </a:tblPr>
              <a:tblGrid>
                <a:gridCol w="1420925"/>
                <a:gridCol w="2467450"/>
                <a:gridCol w="407875"/>
                <a:gridCol w="407875"/>
                <a:gridCol w="406075"/>
                <a:gridCol w="406075"/>
                <a:gridCol w="407875"/>
                <a:gridCol w="406075"/>
                <a:gridCol w="406075"/>
                <a:gridCol w="407875"/>
                <a:gridCol w="406075"/>
                <a:gridCol w="407875"/>
                <a:gridCol w="406075"/>
                <a:gridCol w="407875"/>
                <a:gridCol w="409675"/>
              </a:tblGrid>
              <a:tr h="387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Item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Details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Remark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36000" marL="36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ECFF">
                        <a:alpha val="49411"/>
                      </a:srgbClr>
                    </a:solidFill>
                  </a:tcPr>
                </a:tc>
              </a:tr>
              <a:tr h="4316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Basic study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Review MOST spec 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Review equipment manual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Test bed establishment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Test new equipment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Develop MOST emulator 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Develop emulator head and client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Integrated test and debugging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Develop test results analysis tool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6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Topology basic research 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Literature investigation 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Monitoring tool development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Develop program 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Interlocking test and debugging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1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Final report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Malgun Gothic"/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Wrap-up and submit a final report</a:t>
                      </a:r>
                      <a:endParaRPr b="0"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Malgun Gothic"/>
                        <a:buNone/>
                      </a:pPr>
                      <a:r>
                        <a:rPr b="0" lang="en-US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　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7"/>
          <p:cNvSpPr/>
          <p:nvPr/>
        </p:nvSpPr>
        <p:spPr>
          <a:xfrm>
            <a:off x="281160" y="185760"/>
            <a:ext cx="948672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3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progress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0" name="Google Shape;280;p7"/>
          <p:cNvGrpSpPr/>
          <p:nvPr/>
        </p:nvGrpSpPr>
        <p:grpSpPr>
          <a:xfrm>
            <a:off x="8416800" y="714240"/>
            <a:ext cx="1480680" cy="357480"/>
            <a:chOff x="8416800" y="714240"/>
            <a:chExt cx="1480680" cy="357480"/>
          </a:xfrm>
        </p:grpSpPr>
        <p:sp>
          <p:nvSpPr>
            <p:cNvPr id="281" name="Google Shape;281;p7"/>
            <p:cNvSpPr/>
            <p:nvPr/>
          </p:nvSpPr>
          <p:spPr>
            <a:xfrm>
              <a:off x="8416800" y="790560"/>
              <a:ext cx="679320" cy="82080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9049680" y="714240"/>
              <a:ext cx="793800" cy="211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b="0" i="0" lang="en-US" sz="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Original plan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8422200" y="920880"/>
              <a:ext cx="696600" cy="109080"/>
            </a:xfrm>
            <a:prstGeom prst="rightArrow">
              <a:avLst>
                <a:gd fmla="val 51315" name="adj1"/>
                <a:gd fmla="val 87500" name="adj2"/>
              </a:avLst>
            </a:prstGeom>
            <a:solidFill>
              <a:srgbClr val="FF99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9047160" y="860400"/>
              <a:ext cx="850320" cy="211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Malgun Gothic"/>
                <a:buNone/>
              </a:pPr>
              <a:r>
                <a:rPr b="0" i="0" lang="en-US" sz="8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Current status</a:t>
              </a:r>
              <a:endPara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" name="Google Shape;285;p7"/>
          <p:cNvSpPr/>
          <p:nvPr/>
        </p:nvSpPr>
        <p:spPr>
          <a:xfrm>
            <a:off x="7414920" y="5396040"/>
            <a:ext cx="166104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Delayed program development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665760" y="5003640"/>
            <a:ext cx="131508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Delayed equipment test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064280" y="3271680"/>
            <a:ext cx="170964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Delayed emulator development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7064280" y="2835360"/>
            <a:ext cx="292428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Equipment test delayed, malfunction of OASIS equipment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6249960" y="2422440"/>
            <a:ext cx="3460680" cy="21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Delayed delivery of MOST equipment, purchase of related equipment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p7"/>
          <p:cNvCxnSpPr/>
          <p:nvPr/>
        </p:nvCxnSpPr>
        <p:spPr>
          <a:xfrm>
            <a:off x="4270320" y="1655640"/>
            <a:ext cx="80460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411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p7"/>
          <p:cNvCxnSpPr/>
          <p:nvPr/>
        </p:nvCxnSpPr>
        <p:spPr>
          <a:xfrm>
            <a:off x="4671720" y="2095200"/>
            <a:ext cx="80496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411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p7"/>
          <p:cNvCxnSpPr/>
          <p:nvPr/>
        </p:nvCxnSpPr>
        <p:spPr>
          <a:xfrm>
            <a:off x="5487840" y="2530440"/>
            <a:ext cx="80496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411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" name="Google Shape;293;p7"/>
          <p:cNvCxnSpPr/>
          <p:nvPr/>
        </p:nvCxnSpPr>
        <p:spPr>
          <a:xfrm>
            <a:off x="6095880" y="2949480"/>
            <a:ext cx="98100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411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" name="Google Shape;294;p7"/>
          <p:cNvCxnSpPr/>
          <p:nvPr/>
        </p:nvCxnSpPr>
        <p:spPr>
          <a:xfrm>
            <a:off x="6684840" y="3393720"/>
            <a:ext cx="41256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411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" name="Google Shape;295;p7"/>
          <p:cNvCxnSpPr/>
          <p:nvPr/>
        </p:nvCxnSpPr>
        <p:spPr>
          <a:xfrm>
            <a:off x="5487840" y="4679640"/>
            <a:ext cx="175428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411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7"/>
          <p:cNvCxnSpPr/>
          <p:nvPr/>
        </p:nvCxnSpPr>
        <p:spPr>
          <a:xfrm>
            <a:off x="5879880" y="5111640"/>
            <a:ext cx="78444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411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7"/>
          <p:cNvCxnSpPr/>
          <p:nvPr/>
        </p:nvCxnSpPr>
        <p:spPr>
          <a:xfrm>
            <a:off x="7097400" y="5500440"/>
            <a:ext cx="319320" cy="360"/>
          </a:xfrm>
          <a:prstGeom prst="straightConnector1">
            <a:avLst/>
          </a:prstGeom>
          <a:noFill/>
          <a:ln cap="flat" cmpd="sng" w="63500">
            <a:solidFill>
              <a:srgbClr val="FF9933">
                <a:alpha val="69411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8" name="Google Shape;298;p7"/>
          <p:cNvSpPr/>
          <p:nvPr/>
        </p:nvSpPr>
        <p:spPr>
          <a:xfrm>
            <a:off x="4615200" y="1720800"/>
            <a:ext cx="1718280" cy="137520"/>
          </a:xfrm>
          <a:prstGeom prst="rect">
            <a:avLst/>
          </a:prstGeom>
          <a:solidFill>
            <a:schemeClr val="lt1">
              <a:alpha val="49411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▲ 1</a:t>
            </a:r>
            <a:r>
              <a:rPr b="1" baseline="30000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</a:t>
            </a: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technical meeting (Apr/2)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002280" y="3013200"/>
            <a:ext cx="1794600" cy="137520"/>
          </a:xfrm>
          <a:prstGeom prst="rect">
            <a:avLst/>
          </a:prstGeom>
          <a:solidFill>
            <a:schemeClr val="lt1">
              <a:alpha val="49411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▲ 2</a:t>
            </a:r>
            <a:r>
              <a:rPr b="1" baseline="30000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technical meeting (Jul/15)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7411680" y="5626080"/>
            <a:ext cx="1540080" cy="137520"/>
          </a:xfrm>
          <a:prstGeom prst="rect">
            <a:avLst/>
          </a:prstGeom>
          <a:solidFill>
            <a:schemeClr val="lt1">
              <a:alpha val="49411"/>
            </a:scheme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▲ Interim meeting (Oct/30)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8efce1221_0_222"/>
          <p:cNvSpPr/>
          <p:nvPr/>
        </p:nvSpPr>
        <p:spPr>
          <a:xfrm>
            <a:off x="247747" y="0"/>
            <a:ext cx="89151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47840" lvl="0" marL="44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romanUcPeriod" startAt="4"/>
            </a:pP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 - </a:t>
            </a: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Academic Papers</a:t>
            </a:r>
            <a:endParaRPr b="1"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7" name="Google Shape;307;g398efce1221_0_222"/>
          <p:cNvSpPr/>
          <p:nvPr/>
        </p:nvSpPr>
        <p:spPr>
          <a:xfrm>
            <a:off x="185738" y="914400"/>
            <a:ext cx="9286500" cy="48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There are many academic papers that try to model the effects of sloped road on EV range performance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Most give a general model and not a vehicle specific (based on mass and road grade)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standout papers: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Oriol Travesset-Baro, Transport energy consumption in mountainous roads. A comparative case study for internal combustion engines and electric vehicles in Andorra (2015) – Talk about the difference between powertrain types on  range performance on hilly road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Xiaodan Xu, A modal-based approach for estimating electric vehicle energy consumption in transportation networks (2019) -  statistically-based energy model derived from simulator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Heran Shen, An Experimental Comparison of Physics-based and Machine-Learning-based Electric Vehicle Energy Consumption Estimation Methods (2023) – suggests that ML methods superior in accuracy but only on roads with enough data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8efce1221_0_6"/>
          <p:cNvSpPr/>
          <p:nvPr/>
        </p:nvSpPr>
        <p:spPr>
          <a:xfrm>
            <a:off x="247747" y="187136"/>
            <a:ext cx="89151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47840" lvl="0" marL="44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romanUcPeriod" startAt="4"/>
            </a:pP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</a:t>
            </a:r>
            <a:endParaRPr b="1" sz="3600">
              <a:solidFill>
                <a:srgbClr val="1F497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14" name="Google Shape;314;g398efce1221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465" y="1447920"/>
            <a:ext cx="4354739" cy="327687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98efce1221_0_6"/>
          <p:cNvSpPr/>
          <p:nvPr/>
        </p:nvSpPr>
        <p:spPr>
          <a:xfrm>
            <a:off x="4952902" y="990720"/>
            <a:ext cx="4581000" cy="53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2023 Hyundai IONIQ 5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Signals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Vehicle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Speed, wheel torque, etc.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High/Low voltage battery power, SOC, etc.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IMU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Accel., pitch angles, etc.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GPS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Latitude, Longitude, and Altitude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(optional) Altitude through Google or HERE API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98efce1221_0_67"/>
          <p:cNvSpPr/>
          <p:nvPr/>
        </p:nvSpPr>
        <p:spPr>
          <a:xfrm>
            <a:off x="247747" y="0"/>
            <a:ext cx="89151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47840" lvl="0" marL="44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romanUcPeriod" startAt="4"/>
            </a:pP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 - E</a:t>
            </a: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nergy Usage Measurement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98efce1221_0_67"/>
          <p:cNvSpPr/>
          <p:nvPr/>
        </p:nvSpPr>
        <p:spPr>
          <a:xfrm>
            <a:off x="185738" y="914400"/>
            <a:ext cx="9224400" cy="30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this work, we measure energy consumption using the following high-voltage battery signals: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high-voltage battery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current,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high-voltage battery </a:t>
            </a: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voltage.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Additionally, we record auxiliary power usage (e.g., air conditioning and other onboard systems).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98efce1221_0_73"/>
          <p:cNvSpPr/>
          <p:nvPr/>
        </p:nvSpPr>
        <p:spPr>
          <a:xfrm>
            <a:off x="247747" y="0"/>
            <a:ext cx="94101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47840" lvl="0" marL="44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romanUcPeriod" startAt="4"/>
            </a:pP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 - </a:t>
            </a: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Background: Factors Affecting EV Energy Consumption</a:t>
            </a:r>
            <a:endParaRPr b="1"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9" name="Google Shape;329;g398efce1221_0_73"/>
          <p:cNvSpPr/>
          <p:nvPr/>
        </p:nvSpPr>
        <p:spPr>
          <a:xfrm>
            <a:off x="185738" y="914400"/>
            <a:ext cx="9224400" cy="47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Before discussing the impact of road grade on energy consumption, let’s consider the broader factors influencing a vehicle’s energy usage.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Road grade not only affects vehicle measurements, but vehicle behavior itself also plays a significant role in energy consumption.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UC Berkeley’s previous studies on electric vehicle energy usage, higher driving speeds have been shown to lead to increased energy consumption.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Electric vehicles are less impacted by stop-and-go driving compared to internal combustion engine (ICE) vehicles.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g398efce1221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1160" y="5638680"/>
            <a:ext cx="312390" cy="301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398efce1221_0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2660" y="5267520"/>
            <a:ext cx="433192" cy="36328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98efce1221_0_79"/>
          <p:cNvSpPr/>
          <p:nvPr/>
        </p:nvSpPr>
        <p:spPr>
          <a:xfrm>
            <a:off x="62010" y="5265000"/>
            <a:ext cx="4952400" cy="821100"/>
          </a:xfrm>
          <a:prstGeom prst="rect">
            <a:avLst/>
          </a:prstGeom>
          <a:solidFill>
            <a:srgbClr val="FFFFFF"/>
          </a:solidFill>
          <a:ln cap="flat" cmpd="sng" w="25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same color corresponds to the same run for the two figures above.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98efce1221_0_79"/>
          <p:cNvSpPr/>
          <p:nvPr/>
        </p:nvSpPr>
        <p:spPr>
          <a:xfrm>
            <a:off x="5262660" y="5308920"/>
            <a:ext cx="4581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: High Voltage Battery Usage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: High Voltage Battery Usage – Auxiliary Power Usage (Motion Energy)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g398efce1221_0_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738" y="685800"/>
            <a:ext cx="4766871" cy="3575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98efce1221_0_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81427" y="685800"/>
            <a:ext cx="4890894" cy="366794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g398efce1221_0_79"/>
          <p:cNvSpPr/>
          <p:nvPr/>
        </p:nvSpPr>
        <p:spPr>
          <a:xfrm>
            <a:off x="247747" y="0"/>
            <a:ext cx="94101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47840" lvl="0" marL="44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romanUcPeriod" startAt="4"/>
            </a:pP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 - </a:t>
            </a: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Background: Factors Affecting EV Energy Consumption</a:t>
            </a:r>
            <a:endParaRPr b="1" sz="2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8efce1221_0_89"/>
          <p:cNvSpPr/>
          <p:nvPr/>
        </p:nvSpPr>
        <p:spPr>
          <a:xfrm>
            <a:off x="309465" y="5269320"/>
            <a:ext cx="92865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experiments were repeated with </a:t>
            </a:r>
            <a:r>
              <a:rPr b="1" i="0" lang="en-US" sz="18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AC usage averaging approximately 440 watts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g398efce1221_0_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4913" y="1104840"/>
            <a:ext cx="4333680" cy="3250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g398efce1221_0_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213" y="1066680"/>
            <a:ext cx="4333680" cy="325026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398efce1221_0_89"/>
          <p:cNvSpPr/>
          <p:nvPr/>
        </p:nvSpPr>
        <p:spPr>
          <a:xfrm>
            <a:off x="247747" y="0"/>
            <a:ext cx="94101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47840" lvl="0" marL="44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romanUcPeriod" startAt="4"/>
            </a:pP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 - Background: Factors Affecting EV Energy Consumption</a:t>
            </a:r>
            <a:endParaRPr b="1" sz="3600">
              <a:solidFill>
                <a:srgbClr val="1F497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8efce1221_0_96"/>
          <p:cNvSpPr/>
          <p:nvPr/>
        </p:nvSpPr>
        <p:spPr>
          <a:xfrm>
            <a:off x="309465" y="5257800"/>
            <a:ext cx="92865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experiments were repeated </a:t>
            </a:r>
            <a:r>
              <a:rPr b="1" i="0" lang="en-US" sz="18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without AC usage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As a result, energy consumption decreased by </a:t>
            </a:r>
            <a:r>
              <a:rPr b="1" i="0" lang="en-US" sz="18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9.2% on average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experiments without AC usage.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g398efce1221_0_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213" y="1066680"/>
            <a:ext cx="4333680" cy="3250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g398efce1221_0_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4913" y="1104840"/>
            <a:ext cx="4333680" cy="325026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g398efce1221_0_96"/>
          <p:cNvSpPr/>
          <p:nvPr/>
        </p:nvSpPr>
        <p:spPr>
          <a:xfrm>
            <a:off x="7491510" y="3886200"/>
            <a:ext cx="1980600" cy="638400"/>
          </a:xfrm>
          <a:prstGeom prst="rect">
            <a:avLst/>
          </a:prstGeom>
          <a:solidFill>
            <a:srgbClr val="FFFFFF"/>
          </a:solidFill>
          <a:ln cap="flat" cmpd="sng" w="25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O: With AC usage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X: Without AC usage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398efce1221_0_96"/>
          <p:cNvSpPr/>
          <p:nvPr/>
        </p:nvSpPr>
        <p:spPr>
          <a:xfrm>
            <a:off x="247747" y="0"/>
            <a:ext cx="94101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47840" lvl="0" marL="44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romanUcPeriod" startAt="4"/>
            </a:pP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 - Background: Factors Affecting EV Energy Consumption</a:t>
            </a:r>
            <a:endParaRPr b="1" sz="3600">
              <a:solidFill>
                <a:srgbClr val="1F497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98efce1221_0_104"/>
          <p:cNvSpPr/>
          <p:nvPr/>
        </p:nvSpPr>
        <p:spPr>
          <a:xfrm>
            <a:off x="309465" y="5257800"/>
            <a:ext cx="92865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experiments were repeated </a:t>
            </a:r>
            <a:r>
              <a:rPr b="1" i="0" lang="en-US" sz="18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without AC usage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As a result, energy consumption decreased by </a:t>
            </a:r>
            <a:r>
              <a:rPr b="1" i="0" lang="en-US" sz="18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9.2% on average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experiments without AC usage.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398efce1221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213" y="1066680"/>
            <a:ext cx="4333680" cy="3250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98efce1221_0_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4913" y="1104840"/>
            <a:ext cx="4333680" cy="325026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98efce1221_0_104"/>
          <p:cNvSpPr/>
          <p:nvPr/>
        </p:nvSpPr>
        <p:spPr>
          <a:xfrm>
            <a:off x="7491510" y="3886200"/>
            <a:ext cx="1980600" cy="638400"/>
          </a:xfrm>
          <a:prstGeom prst="rect">
            <a:avLst/>
          </a:prstGeom>
          <a:solidFill>
            <a:srgbClr val="FFFFFF"/>
          </a:solidFill>
          <a:ln cap="flat" cmpd="sng" w="25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O: With AC usage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X: Without AC usage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98efce1221_0_104"/>
          <p:cNvSpPr/>
          <p:nvPr/>
        </p:nvSpPr>
        <p:spPr>
          <a:xfrm>
            <a:off x="247747" y="0"/>
            <a:ext cx="9410100" cy="1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447840" lvl="0" marL="44784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romanUcPeriod" startAt="4"/>
            </a:pPr>
            <a:r>
              <a:rPr b="1" lang="en-US" sz="2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 - Background: Factors Affecting EV Energy Consumption</a:t>
            </a:r>
            <a:endParaRPr b="1" sz="3600">
              <a:solidFill>
                <a:srgbClr val="1F497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67" name="Google Shape;367;g398efce1221_0_104"/>
          <p:cNvSpPr/>
          <p:nvPr/>
        </p:nvSpPr>
        <p:spPr>
          <a:xfrm>
            <a:off x="62010" y="609480"/>
            <a:ext cx="9781800" cy="59433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98efce1221_0_104"/>
          <p:cNvSpPr/>
          <p:nvPr/>
        </p:nvSpPr>
        <p:spPr>
          <a:xfrm>
            <a:off x="166432" y="2625120"/>
            <a:ext cx="9573300" cy="1552800"/>
          </a:xfrm>
          <a:prstGeom prst="rect">
            <a:avLst/>
          </a:prstGeom>
          <a:solidFill>
            <a:srgbClr val="FFFFFF"/>
          </a:solidFill>
          <a:ln cap="flat" cmpd="sng" w="25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this experiment, when comparing the impact of road grade on energy consumption, it is important to account for: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Auxiliary power usage (e.g., air conditioning)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Vehicle speed (travel time)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8"/>
          <p:cNvSpPr/>
          <p:nvPr/>
        </p:nvSpPr>
        <p:spPr>
          <a:xfrm>
            <a:off x="452520" y="954000"/>
            <a:ext cx="9091080" cy="553536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Collected Data with full metry on a tailored drive in hilly Berkeley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281160" y="18576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4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834" y="1428624"/>
            <a:ext cx="9704175" cy="5105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1273d4432_0_3"/>
          <p:cNvSpPr/>
          <p:nvPr/>
        </p:nvSpPr>
        <p:spPr>
          <a:xfrm>
            <a:off x="452520" y="954000"/>
            <a:ext cx="9091200" cy="5535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Filter the data and normalize each valid data point to 1000m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81273d4432_0_3"/>
          <p:cNvSpPr/>
          <p:nvPr/>
        </p:nvSpPr>
        <p:spPr>
          <a:xfrm>
            <a:off x="281160" y="185760"/>
            <a:ext cx="97041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4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g381273d4432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312513"/>
            <a:ext cx="8648700" cy="52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81273d4432_0_10"/>
          <p:cNvSpPr/>
          <p:nvPr/>
        </p:nvSpPr>
        <p:spPr>
          <a:xfrm>
            <a:off x="452520" y="954000"/>
            <a:ext cx="9091200" cy="5535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Identify the main parameters that affect energy consumption and suggest a prediction model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381273d4432_0_10"/>
          <p:cNvSpPr/>
          <p:nvPr/>
        </p:nvSpPr>
        <p:spPr>
          <a:xfrm>
            <a:off x="281160" y="185760"/>
            <a:ext cx="97041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4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g381273d4432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" y="1795675"/>
            <a:ext cx="9563100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81273d4432_0_17"/>
          <p:cNvSpPr/>
          <p:nvPr/>
        </p:nvSpPr>
        <p:spPr>
          <a:xfrm>
            <a:off x="452520" y="954000"/>
            <a:ext cx="9091200" cy="5535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analysis - The effect of sloped roads on EV energy consumption is dramatic and should be taken into account, can increase power consumption by hundreds of presents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81273d4432_0_17"/>
          <p:cNvSpPr/>
          <p:nvPr/>
        </p:nvSpPr>
        <p:spPr>
          <a:xfrm>
            <a:off x="281160" y="185760"/>
            <a:ext cx="97041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4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Research contents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g381273d4432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050" y="1750429"/>
            <a:ext cx="9667875" cy="4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2" name="Google Shape;402;p9"/>
          <p:cNvGraphicFramePr/>
          <p:nvPr/>
        </p:nvGraphicFramePr>
        <p:xfrm>
          <a:off x="361800" y="101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{899863AD-726C-4096-BFBB-B912E0516056}</a:tableStyleId>
              </a:tblPr>
              <a:tblGrid>
                <a:gridCol w="1665725"/>
                <a:gridCol w="5985350"/>
                <a:gridCol w="1530725"/>
              </a:tblGrid>
              <a:tr h="399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br>
                        <a:rPr lang="en-US" sz="1200" u="none" cap="none" strike="noStrike"/>
                      </a:b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Research results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Characteristics/Performance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Remark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85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Mid-term report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US" sz="1400" u="none" cap="none" strike="noStrike"/>
                        <a:t>Collected data on a Hyundai IONIQ 5 for many driving scenarios on different road grades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US" sz="1400" u="none" cap="none" strike="noStrike"/>
                        <a:t>Analyzed the data and suggested a model that can fit the data</a:t>
                      </a:r>
                      <a:endParaRPr sz="1400" u="none" cap="none" strike="noStrike"/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US" sz="1400" u="none" cap="none" strike="noStrike"/>
                        <a:t>identify weak points of the model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Final Report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H/W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3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S/W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Implement a model that predicts the energy consumption based on road grade and other driving parameters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Develop analysis tool to generate a model to predict energy consumption of EV on sloped roads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●"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Implement a path planner that can take into account energy consumption based on road grade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Theses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submission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Published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Expected date (00.00.00)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2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Malgun Gothic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Patent</a:t>
                      </a:r>
                      <a:endParaRPr b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Application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Registration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Malgun Gothic"/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□ Expected date (00.00.00)</a:t>
                      </a:r>
                      <a:endParaRPr b="0"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9000" marL="99000" anchor="ctr">
                    <a:lnL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2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3" name="Google Shape;403;p9"/>
          <p:cNvSpPr/>
          <p:nvPr/>
        </p:nvSpPr>
        <p:spPr>
          <a:xfrm>
            <a:off x="281160" y="18576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361800" lvl="0" marL="361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5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Midterm research results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0"/>
          <p:cNvSpPr/>
          <p:nvPr/>
        </p:nvSpPr>
        <p:spPr>
          <a:xfrm>
            <a:off x="452525" y="954000"/>
            <a:ext cx="9340800" cy="5645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7875" lIns="95750" spcFirstLastPara="1" rIns="95750" wrap="square" tIns="47875">
            <a:noAutofit/>
          </a:bodyPr>
          <a:lstStyle/>
          <a:p>
            <a:pPr indent="-266760" lvl="0" marL="26676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eriod"/>
            </a:pPr>
            <a:r>
              <a:rPr b="1" i="0" lang="en-US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 steps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59" lvl="0" marL="266759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AutoNum type="arabicParenR"/>
            </a:pPr>
            <a:r>
              <a:rPr b="0" i="0" lang="en-US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Collect more data on different ReGen levels to see the effect on energy consumption</a:t>
            </a:r>
            <a:endParaRPr b="0" i="0" sz="19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66759" lvl="0" marL="266759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AutoNum type="arabicParenR"/>
            </a:pPr>
            <a:r>
              <a:rPr b="0" i="0" lang="en-US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Generalize a energy consumption model not specific for a single car</a:t>
            </a:r>
            <a:endParaRPr b="0" i="0" sz="19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66759" lvl="0" marL="266759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algun Gothic"/>
              <a:buAutoNum type="arabicParenR"/>
            </a:pPr>
            <a:r>
              <a:rPr b="0" i="0" lang="en-US" sz="1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Incorporate the energy model suggested in  a path planner to see the effect</a:t>
            </a:r>
            <a:endParaRPr b="0" i="0" sz="19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281160" y="185760"/>
            <a:ext cx="97041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447840" lvl="0" marL="447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romanUcPeriod" startAt="6"/>
            </a:pPr>
            <a:r>
              <a:rPr b="1" i="0" lang="en-US" sz="2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Future research plan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0" name="Google Shape;4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3275" y="3288225"/>
            <a:ext cx="5186124" cy="345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0"/>
          <p:cNvSpPr txBox="1"/>
          <p:nvPr/>
        </p:nvSpPr>
        <p:spPr>
          <a:xfrm>
            <a:off x="155325" y="3742750"/>
            <a:ext cx="45561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FF0000"/>
                </a:solidFill>
              </a:rPr>
              <a:t>Research Goal:</a:t>
            </a:r>
            <a:endParaRPr b="1" sz="1800" u="sng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Develop a grade-aware energy prediction model that is </a:t>
            </a:r>
            <a:r>
              <a:rPr lang="en-US" sz="1800" u="sng"/>
              <a:t>about 25%</a:t>
            </a:r>
            <a:r>
              <a:rPr lang="en-US" sz="1800"/>
              <a:t> accurate in validation scenarios 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E2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E2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E2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CFFFF"/>
      </a:accent1>
      <a:accent2>
        <a:srgbClr val="333399"/>
      </a:accent2>
      <a:accent3>
        <a:srgbClr val="FFFFFF"/>
      </a:accent3>
      <a:accent4>
        <a:srgbClr val="000000"/>
      </a:accent4>
      <a:accent5>
        <a:srgbClr val="E2FF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2006-02-28T10:33:13Z</dcterms:created>
  <dc:creator>William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1_Template:3</vt:lpwstr>
  </property>
  <property fmtid="{D5CDD505-2E9C-101B-9397-08002B2CF9AE}" pid="3" name="ClassificationContentMarkingFooterText">
    <vt:lpwstr>본 문서는 현대자동차·기아의 정보자산으로 귀사와의 비밀유지계약 및 제반법률에 따라 법적 보호를 받습니다.</vt:lpwstr>
  </property>
  <property fmtid="{D5CDD505-2E9C-101B-9397-08002B2CF9AE}" pid="4" name="MSIP_Label_84883e49-c40c-4c70-af6e-4047d87bba49_ActionId">
    <vt:lpwstr>a5f2be9c-a557-44e5-9b9a-e7c71ab0fc44</vt:lpwstr>
  </property>
  <property fmtid="{D5CDD505-2E9C-101B-9397-08002B2CF9AE}" pid="5" name="MSIP_Label_84883e49-c40c-4c70-af6e-4047d87bba49_ContentBits">
    <vt:lpwstr>2</vt:lpwstr>
  </property>
  <property fmtid="{D5CDD505-2E9C-101B-9397-08002B2CF9AE}" pid="6" name="MSIP_Label_84883e49-c40c-4c70-af6e-4047d87bba49_Enabled">
    <vt:lpwstr>true</vt:lpwstr>
  </property>
  <property fmtid="{D5CDD505-2E9C-101B-9397-08002B2CF9AE}" pid="7" name="MSIP_Label_84883e49-c40c-4c70-af6e-4047d87bba49_Method">
    <vt:lpwstr>Privileged</vt:lpwstr>
  </property>
  <property fmtid="{D5CDD505-2E9C-101B-9397-08002B2CF9AE}" pid="8" name="MSIP_Label_84883e49-c40c-4c70-af6e-4047d87bba49_Name">
    <vt:lpwstr>평문 (AnyUser)</vt:lpwstr>
  </property>
  <property fmtid="{D5CDD505-2E9C-101B-9397-08002B2CF9AE}" pid="9" name="MSIP_Label_84883e49-c40c-4c70-af6e-4047d87bba49_SetDate">
    <vt:lpwstr>2025-04-30T01:00:38Z</vt:lpwstr>
  </property>
  <property fmtid="{D5CDD505-2E9C-101B-9397-08002B2CF9AE}" pid="10" name="MSIP_Label_84883e49-c40c-4c70-af6e-4047d87bba49_SiteId">
    <vt:lpwstr>f85ca5f1-aa23-4252-a83a-443d333b1fe7</vt:lpwstr>
  </property>
  <property fmtid="{D5CDD505-2E9C-101B-9397-08002B2CF9AE}" pid="11" name="MSIP_Label_84883e49-c40c-4c70-af6e-4047d87bba49_Tag">
    <vt:lpwstr>10, 0, 1, 1</vt:lpwstr>
  </property>
  <property fmtid="{D5CDD505-2E9C-101B-9397-08002B2CF9AE}" pid="12" name="Notes">
    <vt:i4>2</vt:i4>
  </property>
  <property fmtid="{D5CDD505-2E9C-101B-9397-08002B2CF9AE}" pid="13" name="PresentationFormat">
    <vt:lpwstr>A4 용지(210x297mm)</vt:lpwstr>
  </property>
  <property fmtid="{D5CDD505-2E9C-101B-9397-08002B2CF9AE}" pid="14" name="Slides">
    <vt:i4>10</vt:i4>
  </property>
</Properties>
</file>