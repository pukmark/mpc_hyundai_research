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1" r:id="rId2"/>
  </p:sldMasterIdLst>
  <p:notesMasterIdLst>
    <p:notesMasterId r:id="rId14"/>
  </p:notesMasterIdLst>
  <p:handoutMasterIdLst>
    <p:handoutMasterId r:id="rId15"/>
  </p:handoutMasterIdLst>
  <p:sldIdLst>
    <p:sldId id="2140" r:id="rId3"/>
    <p:sldId id="2663" r:id="rId4"/>
    <p:sldId id="2144" r:id="rId5"/>
    <p:sldId id="2141" r:id="rId6"/>
    <p:sldId id="2667" r:id="rId7"/>
    <p:sldId id="2207" r:id="rId8"/>
    <p:sldId id="2664" r:id="rId9"/>
    <p:sldId id="2659" r:id="rId10"/>
    <p:sldId id="2669" r:id="rId11"/>
    <p:sldId id="2670" r:id="rId12"/>
    <p:sldId id="2671" r:id="rId13"/>
  </p:sldIdLst>
  <p:sldSz cx="12192000" cy="68580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BF23C5-FBFE-4E4C-9BCD-BAB939F833E6}">
          <p14:sldIdLst>
            <p14:sldId id="2140"/>
            <p14:sldId id="2663"/>
          </p14:sldIdLst>
        </p14:section>
        <p14:section name="Project Overview" id="{BD91218F-ACC8-4D77-A8E8-6374DE20EAAC}">
          <p14:sldIdLst>
            <p14:sldId id="2144"/>
            <p14:sldId id="2141"/>
            <p14:sldId id="2667"/>
            <p14:sldId id="2207"/>
            <p14:sldId id="2664"/>
          </p14:sldIdLst>
        </p14:section>
        <p14:section name="Discussion" id="{668C85F6-C2CC-4D21-A6D2-408B571F61B6}">
          <p14:sldIdLst>
            <p14:sldId id="2659"/>
            <p14:sldId id="2669"/>
            <p14:sldId id="2670"/>
            <p14:sldId id="2671"/>
          </p14:sldIdLst>
        </p14:section>
        <p14:section name="Appendix" id="{758A53E2-FBF5-4BF0-B8D7-926D29B0188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49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>
          <p15:clr>
            <a:srgbClr val="A4A3A4"/>
          </p15:clr>
        </p15:guide>
        <p15:guide id="2" pos="292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copo Guanetti" initials="JG" lastIdx="25" clrIdx="0">
    <p:extLst>
      <p:ext uri="{19B8F6BF-5375-455C-9EA6-DF929625EA0E}">
        <p15:presenceInfo xmlns:p15="http://schemas.microsoft.com/office/powerpoint/2012/main" userId="Jacopo Guanetti" providerId="None"/>
      </p:ext>
    </p:extLst>
  </p:cmAuthor>
  <p:cmAuthor id="2" name="yeojun kim" initials="yk" lastIdx="1" clrIdx="1">
    <p:extLst>
      <p:ext uri="{19B8F6BF-5375-455C-9EA6-DF929625EA0E}">
        <p15:presenceInfo xmlns:p15="http://schemas.microsoft.com/office/powerpoint/2012/main" userId="3ad35ea800be9861" providerId="Windows Live"/>
      </p:ext>
    </p:extLst>
  </p:cmAuthor>
  <p:cmAuthor id="3" name="Jacopo Guanetti" initials="JG [2]" lastIdx="35" clrIdx="2">
    <p:extLst>
      <p:ext uri="{19B8F6BF-5375-455C-9EA6-DF929625EA0E}">
        <p15:presenceInfo xmlns:p15="http://schemas.microsoft.com/office/powerpoint/2012/main" userId="034f289b2856bfcd" providerId="Windows Live"/>
      </p:ext>
    </p:extLst>
  </p:cmAuthor>
  <p:cmAuthor id="4" name="Jacopo Guanetti" initials="JG [3]" lastIdx="3" clrIdx="3">
    <p:extLst>
      <p:ext uri="{19B8F6BF-5375-455C-9EA6-DF929625EA0E}">
        <p15:presenceInfo xmlns:p15="http://schemas.microsoft.com/office/powerpoint/2012/main" userId="S-1-5-21-1607255175-1988809344-2456378301-1001" providerId="AD"/>
      </p:ext>
    </p:extLst>
  </p:cmAuthor>
  <p:cmAuthor id="5" name="Yongkeun Choi" initials="YC" lastIdx="1" clrIdx="4">
    <p:extLst>
      <p:ext uri="{19B8F6BF-5375-455C-9EA6-DF929625EA0E}">
        <p15:presenceInfo xmlns:p15="http://schemas.microsoft.com/office/powerpoint/2012/main" userId="cb2f66560ba8887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FFD965"/>
    <a:srgbClr val="5024DE"/>
    <a:srgbClr val="ADA4E0"/>
    <a:srgbClr val="E9EDF4"/>
    <a:srgbClr val="FFFFFF"/>
    <a:srgbClr val="FFFF99"/>
    <a:srgbClr val="D0D8E8"/>
    <a:srgbClr val="7030A0"/>
    <a:srgbClr val="F79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41" autoAdjust="0"/>
    <p:restoredTop sz="87331" autoAdjust="0"/>
  </p:normalViewPr>
  <p:slideViewPr>
    <p:cSldViewPr>
      <p:cViewPr varScale="1">
        <p:scale>
          <a:sx n="65" d="100"/>
          <a:sy n="65" d="100"/>
        </p:scale>
        <p:origin x="596" y="32"/>
      </p:cViewPr>
      <p:guideLst>
        <p:guide orient="horz" pos="2496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118" d="100"/>
          <a:sy n="118" d="100"/>
        </p:scale>
        <p:origin x="1320" y="76"/>
      </p:cViewPr>
      <p:guideLst>
        <p:guide orient="horz" pos="2208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028440" cy="350520"/>
          </a:xfrm>
          <a:prstGeom prst="rect">
            <a:avLst/>
          </a:prstGeom>
        </p:spPr>
        <p:txBody>
          <a:bodyPr vert="horz" lIns="92286" tIns="46142" rIns="92286" bIns="46142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810" y="0"/>
            <a:ext cx="4028440" cy="350520"/>
          </a:xfrm>
          <a:prstGeom prst="rect">
            <a:avLst/>
          </a:prstGeom>
        </p:spPr>
        <p:txBody>
          <a:bodyPr vert="horz" lIns="92286" tIns="46142" rIns="92286" bIns="46142" rtlCol="0"/>
          <a:lstStyle>
            <a:lvl1pPr algn="r">
              <a:defRPr sz="1300"/>
            </a:lvl1pPr>
          </a:lstStyle>
          <a:p>
            <a:fld id="{E3BC5374-F9B0-4188-89A7-20F224DCA0C3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6658665"/>
            <a:ext cx="4028440" cy="350520"/>
          </a:xfrm>
          <a:prstGeom prst="rect">
            <a:avLst/>
          </a:prstGeom>
        </p:spPr>
        <p:txBody>
          <a:bodyPr vert="horz" lIns="92286" tIns="46142" rIns="92286" bIns="46142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810" y="6658665"/>
            <a:ext cx="4028440" cy="350520"/>
          </a:xfrm>
          <a:prstGeom prst="rect">
            <a:avLst/>
          </a:prstGeom>
        </p:spPr>
        <p:txBody>
          <a:bodyPr vert="horz" lIns="92286" tIns="46142" rIns="92286" bIns="46142" rtlCol="0" anchor="b"/>
          <a:lstStyle>
            <a:lvl1pPr algn="r">
              <a:defRPr sz="1300"/>
            </a:lvl1pPr>
          </a:lstStyle>
          <a:p>
            <a:fld id="{0B72640C-123E-4DD2-9C26-AC7FE93C7F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833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028440" cy="350520"/>
          </a:xfrm>
          <a:prstGeom prst="rect">
            <a:avLst/>
          </a:prstGeom>
        </p:spPr>
        <p:txBody>
          <a:bodyPr vert="horz" lIns="92286" tIns="46142" rIns="92286" bIns="46142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10" y="0"/>
            <a:ext cx="4028440" cy="350520"/>
          </a:xfrm>
          <a:prstGeom prst="rect">
            <a:avLst/>
          </a:prstGeom>
        </p:spPr>
        <p:txBody>
          <a:bodyPr vert="horz" lIns="92286" tIns="46142" rIns="92286" bIns="46142" rtlCol="0"/>
          <a:lstStyle>
            <a:lvl1pPr algn="r">
              <a:defRPr sz="1300"/>
            </a:lvl1pPr>
          </a:lstStyle>
          <a:p>
            <a:fld id="{74E51504-4EDC-4028-9932-8D73530919EE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11400" y="525463"/>
            <a:ext cx="46736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86" tIns="46142" rIns="92286" bIns="4614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29941"/>
            <a:ext cx="7437120" cy="3154680"/>
          </a:xfrm>
          <a:prstGeom prst="rect">
            <a:avLst/>
          </a:prstGeom>
        </p:spPr>
        <p:txBody>
          <a:bodyPr vert="horz" lIns="92286" tIns="46142" rIns="92286" bIns="4614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658665"/>
            <a:ext cx="4028440" cy="350520"/>
          </a:xfrm>
          <a:prstGeom prst="rect">
            <a:avLst/>
          </a:prstGeom>
        </p:spPr>
        <p:txBody>
          <a:bodyPr vert="horz" lIns="92286" tIns="46142" rIns="92286" bIns="46142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10" y="6658665"/>
            <a:ext cx="4028440" cy="350520"/>
          </a:xfrm>
          <a:prstGeom prst="rect">
            <a:avLst/>
          </a:prstGeom>
        </p:spPr>
        <p:txBody>
          <a:bodyPr vert="horz" lIns="92286" tIns="46142" rIns="92286" bIns="46142" rtlCol="0" anchor="b"/>
          <a:lstStyle>
            <a:lvl1pPr algn="r">
              <a:defRPr sz="1300"/>
            </a:lvl1pPr>
          </a:lstStyle>
          <a:p>
            <a:fld id="{43F0C051-CD26-41D8-9BA5-F9EF0AD610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961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EF474-15B8-B176-278A-3BF6A2BEC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3069E-F284-71AE-D1FF-25B25DD07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9ECDFC-3797-13A4-1A5A-0A15D990A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AE4DF-33B9-D61A-85F6-581F1D9BF3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52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473DB-13DA-B6AA-0EA1-C7F53BCF3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97FCAA-126C-A161-6868-7C0517584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52D2F2-0124-D660-4C23-83E70CD40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CD313-48A3-5713-E71F-54F8A3711E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2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B3DBF-9F55-D395-12DF-8B73A26AA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991303-BC9B-E9C7-02E5-3579EE082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C615C-6F63-E882-36DB-F89DEC4A0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39483-6A9B-FDFE-ECDC-C4E7A09037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51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4F9FC-B34A-C7CB-D4D7-DDC3B3178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F2B877-12E4-21F1-D2CC-DA0B91CD1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1B992-5E58-F22E-A1B9-03BB97957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9AD22-C12A-2C6C-0E2A-0B8B212F46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84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2AE4B-0ACD-22D7-4F57-7381F30A2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2862B-1E37-E46F-A1F8-CEDC1DED69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1B9ECA-B224-230A-3A98-3D2AE432D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33562-248E-08B1-29E5-D13C155D55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69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31B4A-3485-43DF-240B-054AB45C0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AA9512-CFB9-9CF7-81A3-B70CAAF1C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BE196-E685-AD0E-E6AF-CD4296345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94452-00EC-5596-BBD8-2A48F21F83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02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2D04F-12BC-F714-70A0-65385886C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D857EB-0B14-BD61-339D-EA7FA7FAB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4DC9E-99B0-78D5-3552-813A14AEF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55EE9-BF6C-911E-4C3C-52284DAF04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36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440C4-D723-2A6C-889E-73CAF2A7A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28A610-9685-C306-B672-B06E144BF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876B4-37C0-D6DD-0DC1-087E025CC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7D479-220E-3230-6DBC-E2E9324AB5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19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2677E-AB94-0A0D-2BBA-6F01C498B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98CCE0-653C-C17C-4970-C622265AD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11400" y="525463"/>
            <a:ext cx="4673600" cy="2628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03815-8E39-32B8-D449-5349750D7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EE004-E24B-71C8-5F83-187696FBAE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F0C051-CD26-41D8-9BA5-F9EF0AD6103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96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jpe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A75FA5-D7F9-5EDF-8462-B232A284B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6858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838200"/>
            <a:ext cx="11785600" cy="5486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6258964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3CFBCD7E-D3EA-4FE0-AA0E-02B5C832541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66766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77304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704CE64-C5B7-CF45-8E2E-6E5C4590FD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1708" y="564993"/>
            <a:ext cx="4240697" cy="11425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4E6E88-B3C1-3147-817E-4EBEBC74B9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C71BC0C-5823-5F4D-9F43-026AEC448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43668" y="2948499"/>
            <a:ext cx="5138737" cy="1145632"/>
          </a:xfrm>
          <a:prstGeom prst="rect">
            <a:avLst/>
          </a:prstGeom>
        </p:spPr>
        <p:txBody>
          <a:bodyPr/>
          <a:lstStyle>
            <a:lvl1pPr algn="r">
              <a:defRPr sz="2850" b="1">
                <a:latin typeface="Zona Pro" panose="02010A03040002020004" pitchFamily="2" charset="0"/>
              </a:defRPr>
            </a:lvl1pPr>
          </a:lstStyle>
          <a:p>
            <a:r>
              <a:rPr lang="en-US" dirty="0"/>
              <a:t>Presentation Deck Main 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81B985C-286E-F841-BA77-7497FBB19E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43668" y="4256182"/>
            <a:ext cx="5138737" cy="8683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950">
                <a:solidFill>
                  <a:schemeClr val="bg2">
                    <a:lumMod val="50000"/>
                  </a:schemeClr>
                </a:solidFill>
                <a:latin typeface="Avenir" panose="02000503020000020003" pitchFamily="2" charset="0"/>
              </a:defRPr>
            </a:lvl1pPr>
          </a:lstStyle>
          <a:p>
            <a:pPr lvl="0"/>
            <a:r>
              <a:rPr lang="en-US" dirty="0"/>
              <a:t>Presentation Deck Subtitle</a:t>
            </a:r>
          </a:p>
        </p:txBody>
      </p:sp>
    </p:spTree>
    <p:extLst>
      <p:ext uri="{BB962C8B-B14F-4D97-AF65-F5344CB8AC3E}">
        <p14:creationId xmlns:p14="http://schemas.microsoft.com/office/powerpoint/2010/main" val="3616374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(Grey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F359E639-90BE-724F-B24C-8FFB7D7749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256" y="236698"/>
            <a:ext cx="6562725" cy="3698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50" b="1">
                <a:latin typeface="Zona Pro" panose="02010A03040002020004" pitchFamily="2" charset="0"/>
              </a:defRPr>
            </a:lvl1pPr>
          </a:lstStyle>
          <a:p>
            <a:pPr lvl="0"/>
            <a:r>
              <a:rPr lang="en-US" dirty="0"/>
              <a:t>Insert Slide Header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3D280AE-9C48-604E-82D0-98FDAA0140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5440" y="828633"/>
            <a:ext cx="6562725" cy="273208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B0F0"/>
              </a:buClr>
              <a:buNone/>
              <a:defRPr>
                <a:latin typeface="Avenir" panose="02000503020000020003" pitchFamily="2" charset="0"/>
              </a:defRPr>
            </a:lvl1pPr>
            <a:lvl2pPr>
              <a:buClr>
                <a:srgbClr val="00B0F0"/>
              </a:buClr>
              <a:defRPr>
                <a:latin typeface="Avenir" panose="02000503020000020003" pitchFamily="2" charset="0"/>
              </a:defRPr>
            </a:lvl2pPr>
            <a:lvl3pPr>
              <a:buClr>
                <a:srgbClr val="00B0F0"/>
              </a:buClr>
              <a:defRPr>
                <a:latin typeface="Avenir" panose="02000503020000020003" pitchFamily="2" charset="0"/>
              </a:defRPr>
            </a:lvl3pPr>
            <a:lvl4pPr>
              <a:buClr>
                <a:srgbClr val="00B0F0"/>
              </a:buClr>
              <a:defRPr>
                <a:latin typeface="Avenir" panose="02000503020000020003" pitchFamily="2" charset="0"/>
              </a:defRPr>
            </a:lvl4pPr>
            <a:lvl5pPr>
              <a:buClr>
                <a:srgbClr val="00B0F0"/>
              </a:buClr>
              <a:defRPr>
                <a:latin typeface="Avenir" panose="02000503020000020003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8AA7EE-B2EF-3743-9F5E-61F7A04F1B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90176" y="6431293"/>
            <a:ext cx="1254309" cy="33781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889300A-F16B-534F-8859-46B479F8A6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51803" y="6456067"/>
            <a:ext cx="592015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| </a:t>
            </a:r>
            <a:fld id="{DFDFB3FA-7294-9342-A177-AF704A3534F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972E84-A6AC-8041-BD76-AB444F7F49DF}"/>
              </a:ext>
            </a:extLst>
          </p:cNvPr>
          <p:cNvSpPr txBox="1"/>
          <p:nvPr userDrawn="1"/>
        </p:nvSpPr>
        <p:spPr>
          <a:xfrm>
            <a:off x="325259" y="6516203"/>
            <a:ext cx="7747183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85" dirty="0">
                <a:solidFill>
                  <a:schemeClr val="bg1">
                    <a:lumMod val="50000"/>
                  </a:schemeClr>
                </a:solidFill>
                <a:latin typeface="Avenir" panose="02000503020000020003" pitchFamily="2" charset="0"/>
              </a:rPr>
              <a:t>This document is proprietary &amp; confidential. No part of this document may be disclosed to any Third Party without the express written consent of WideSense.</a:t>
            </a:r>
          </a:p>
          <a:p>
            <a:endParaRPr lang="en-US" sz="585" dirty="0"/>
          </a:p>
        </p:txBody>
      </p:sp>
    </p:spTree>
    <p:extLst>
      <p:ext uri="{BB962C8B-B14F-4D97-AF65-F5344CB8AC3E}">
        <p14:creationId xmlns:p14="http://schemas.microsoft.com/office/powerpoint/2010/main" val="2500759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G Image Slide (Grey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6C9173-7E15-6C47-9D9B-8623250293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6"/>
            <a:ext cx="12192000" cy="6848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F359E639-90BE-724F-B24C-8FFB7D7749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256" y="236698"/>
            <a:ext cx="6562725" cy="3698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50" b="1">
                <a:latin typeface="Zona Pro" panose="02010A03040002020004" pitchFamily="2" charset="0"/>
              </a:defRPr>
            </a:lvl1pPr>
          </a:lstStyle>
          <a:p>
            <a:pPr lvl="0"/>
            <a:r>
              <a:rPr lang="en-US" dirty="0"/>
              <a:t>Insert Slide Header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3D280AE-9C48-604E-82D0-98FDAA0140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5440" y="828633"/>
            <a:ext cx="6562725" cy="273208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B0F0"/>
              </a:buClr>
              <a:buNone/>
              <a:defRPr>
                <a:latin typeface="Avenir" panose="02000503020000020003" pitchFamily="2" charset="0"/>
              </a:defRPr>
            </a:lvl1pPr>
            <a:lvl2pPr>
              <a:buClr>
                <a:srgbClr val="00B0F0"/>
              </a:buClr>
              <a:defRPr>
                <a:latin typeface="Avenir" panose="02000503020000020003" pitchFamily="2" charset="0"/>
              </a:defRPr>
            </a:lvl2pPr>
            <a:lvl3pPr>
              <a:buClr>
                <a:srgbClr val="00B0F0"/>
              </a:buClr>
              <a:defRPr>
                <a:latin typeface="Avenir" panose="02000503020000020003" pitchFamily="2" charset="0"/>
              </a:defRPr>
            </a:lvl3pPr>
            <a:lvl4pPr>
              <a:buClr>
                <a:srgbClr val="00B0F0"/>
              </a:buClr>
              <a:defRPr>
                <a:latin typeface="Avenir" panose="02000503020000020003" pitchFamily="2" charset="0"/>
              </a:defRPr>
            </a:lvl4pPr>
            <a:lvl5pPr>
              <a:buClr>
                <a:srgbClr val="00B0F0"/>
              </a:buClr>
              <a:defRPr>
                <a:latin typeface="Avenir" panose="02000503020000020003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20175DD-2A9E-B145-A554-17FE35A4BD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90176" y="6431293"/>
            <a:ext cx="1254309" cy="33781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2785B01-C860-3544-98A7-68E9D220767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51803" y="6456067"/>
            <a:ext cx="592015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| </a:t>
            </a:r>
            <a:fld id="{DFDFB3FA-7294-9342-A177-AF704A3534F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F8754B-D72E-4144-A4CE-865C28329479}"/>
              </a:ext>
            </a:extLst>
          </p:cNvPr>
          <p:cNvSpPr txBox="1"/>
          <p:nvPr userDrawn="1"/>
        </p:nvSpPr>
        <p:spPr>
          <a:xfrm>
            <a:off x="325259" y="6516203"/>
            <a:ext cx="7747183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85" dirty="0">
                <a:solidFill>
                  <a:schemeClr val="bg1">
                    <a:lumMod val="50000"/>
                  </a:schemeClr>
                </a:solidFill>
                <a:latin typeface="Avenir" panose="02000503020000020003" pitchFamily="2" charset="0"/>
              </a:rPr>
              <a:t>This document is proprietary &amp; confidential. No part of this document may be disclosed to any Third Party without the express written consent of WideSense.</a:t>
            </a:r>
          </a:p>
          <a:p>
            <a:endParaRPr lang="en-US" sz="585" dirty="0"/>
          </a:p>
        </p:txBody>
      </p:sp>
    </p:spTree>
    <p:extLst>
      <p:ext uri="{BB962C8B-B14F-4D97-AF65-F5344CB8AC3E}">
        <p14:creationId xmlns:p14="http://schemas.microsoft.com/office/powerpoint/2010/main" val="30198666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G Image Slide (White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B486BF1-E4D2-8E41-A1E5-BE2652D82E94}"/>
              </a:ext>
            </a:extLst>
          </p:cNvPr>
          <p:cNvSpPr txBox="1"/>
          <p:nvPr userDrawn="1"/>
        </p:nvSpPr>
        <p:spPr>
          <a:xfrm>
            <a:off x="325259" y="6514866"/>
            <a:ext cx="7536044" cy="182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85" dirty="0">
                <a:solidFill>
                  <a:schemeClr val="bg1"/>
                </a:solidFill>
                <a:latin typeface="Avenir" panose="02000503020000020003" pitchFamily="2" charset="0"/>
              </a:rPr>
              <a:t>This document is proprietary &amp; confidential. No part of this document may be disclosed to any Third Party without the express written consent of WideSense.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F0FBCD7-04CC-0245-AE1E-F4C195732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256" y="236698"/>
            <a:ext cx="6562725" cy="3698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50" b="1">
                <a:latin typeface="Zona Pro" panose="02010A03040002020004" pitchFamily="2" charset="0"/>
              </a:defRPr>
            </a:lvl1pPr>
          </a:lstStyle>
          <a:p>
            <a:pPr lvl="0"/>
            <a:r>
              <a:rPr lang="en-US" dirty="0"/>
              <a:t>Insert Slide Header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8E427872-82C1-9047-89E6-10154DACD8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5440" y="828633"/>
            <a:ext cx="6562725" cy="273208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B0F0"/>
              </a:buClr>
              <a:buNone/>
              <a:defRPr>
                <a:latin typeface="Avenir" panose="02000503020000020003" pitchFamily="2" charset="0"/>
              </a:defRPr>
            </a:lvl1pPr>
            <a:lvl2pPr>
              <a:buClr>
                <a:srgbClr val="00B0F0"/>
              </a:buClr>
              <a:defRPr>
                <a:latin typeface="Avenir" panose="02000503020000020003" pitchFamily="2" charset="0"/>
              </a:defRPr>
            </a:lvl2pPr>
            <a:lvl3pPr>
              <a:buClr>
                <a:srgbClr val="00B0F0"/>
              </a:buClr>
              <a:defRPr>
                <a:latin typeface="Avenir" panose="02000503020000020003" pitchFamily="2" charset="0"/>
              </a:defRPr>
            </a:lvl3pPr>
            <a:lvl4pPr>
              <a:buClr>
                <a:srgbClr val="00B0F0"/>
              </a:buClr>
              <a:defRPr>
                <a:latin typeface="Avenir" panose="02000503020000020003" pitchFamily="2" charset="0"/>
              </a:defRPr>
            </a:lvl4pPr>
            <a:lvl5pPr>
              <a:buClr>
                <a:srgbClr val="00B0F0"/>
              </a:buClr>
              <a:defRPr>
                <a:latin typeface="Avenir" panose="02000503020000020003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4853C49-6FAB-5D4D-BBFB-E69B225C4E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90176" y="6431293"/>
            <a:ext cx="1254309" cy="33781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C060C39-BC96-CB4E-A1BF-E653F00311A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51803" y="6456067"/>
            <a:ext cx="592015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| </a:t>
            </a:r>
            <a:fld id="{DFDFB3FA-7294-9342-A177-AF704A3534F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9AEE46-7A55-6248-B917-4F8ACDBC2C7F}"/>
              </a:ext>
            </a:extLst>
          </p:cNvPr>
          <p:cNvSpPr txBox="1"/>
          <p:nvPr userDrawn="1"/>
        </p:nvSpPr>
        <p:spPr>
          <a:xfrm>
            <a:off x="325259" y="6516203"/>
            <a:ext cx="7747183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85" dirty="0">
                <a:solidFill>
                  <a:schemeClr val="bg1">
                    <a:lumMod val="50000"/>
                  </a:schemeClr>
                </a:solidFill>
                <a:latin typeface="Avenir" panose="02000503020000020003" pitchFamily="2" charset="0"/>
              </a:rPr>
              <a:t>This document is proprietary &amp; confidential. No part of this document may be disclosed to any Third Party without the express written consent of WideSense.</a:t>
            </a:r>
          </a:p>
          <a:p>
            <a:endParaRPr lang="en-US" sz="585" dirty="0"/>
          </a:p>
        </p:txBody>
      </p:sp>
    </p:spTree>
    <p:extLst>
      <p:ext uri="{BB962C8B-B14F-4D97-AF65-F5344CB8AC3E}">
        <p14:creationId xmlns:p14="http://schemas.microsoft.com/office/powerpoint/2010/main" val="35014926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G Image Slide (White Logo)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B486BF1-E4D2-8E41-A1E5-BE2652D82E94}"/>
              </a:ext>
            </a:extLst>
          </p:cNvPr>
          <p:cNvSpPr txBox="1"/>
          <p:nvPr userDrawn="1"/>
        </p:nvSpPr>
        <p:spPr>
          <a:xfrm>
            <a:off x="325259" y="6514866"/>
            <a:ext cx="7536044" cy="182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85" dirty="0">
                <a:solidFill>
                  <a:schemeClr val="bg1"/>
                </a:solidFill>
                <a:latin typeface="Avenir" panose="02000503020000020003" pitchFamily="2" charset="0"/>
              </a:rPr>
              <a:t>This document is proprietary &amp; confidential. No part of this document may be disclosed to any Third Party without the express written consent of WideSense.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F0FBCD7-04CC-0245-AE1E-F4C195732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256" y="236698"/>
            <a:ext cx="6562725" cy="3698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50" b="1">
                <a:latin typeface="Zona Pro" panose="02010A03040002020004" pitchFamily="2" charset="0"/>
              </a:defRPr>
            </a:lvl1pPr>
          </a:lstStyle>
          <a:p>
            <a:pPr lvl="0"/>
            <a:r>
              <a:rPr lang="en-US" dirty="0"/>
              <a:t>Insert Slide Header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8E427872-82C1-9047-89E6-10154DACD8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5440" y="828633"/>
            <a:ext cx="6562725" cy="273208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B0F0"/>
              </a:buClr>
              <a:buNone/>
              <a:defRPr>
                <a:latin typeface="Avenir" panose="02000503020000020003" pitchFamily="2" charset="0"/>
              </a:defRPr>
            </a:lvl1pPr>
            <a:lvl2pPr>
              <a:buClr>
                <a:srgbClr val="00B0F0"/>
              </a:buClr>
              <a:defRPr>
                <a:latin typeface="Avenir" panose="02000503020000020003" pitchFamily="2" charset="0"/>
              </a:defRPr>
            </a:lvl2pPr>
            <a:lvl3pPr>
              <a:buClr>
                <a:srgbClr val="00B0F0"/>
              </a:buClr>
              <a:defRPr>
                <a:latin typeface="Avenir" panose="02000503020000020003" pitchFamily="2" charset="0"/>
              </a:defRPr>
            </a:lvl3pPr>
            <a:lvl4pPr>
              <a:buClr>
                <a:srgbClr val="00B0F0"/>
              </a:buClr>
              <a:defRPr>
                <a:latin typeface="Avenir" panose="02000503020000020003" pitchFamily="2" charset="0"/>
              </a:defRPr>
            </a:lvl4pPr>
            <a:lvl5pPr>
              <a:buClr>
                <a:srgbClr val="00B0F0"/>
              </a:buClr>
              <a:defRPr>
                <a:latin typeface="Avenir" panose="02000503020000020003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4853C49-6FAB-5D4D-BBFB-E69B225C4E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90176" y="6431293"/>
            <a:ext cx="1254309" cy="33781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C060C39-BC96-CB4E-A1BF-E653F00311A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51803" y="6456067"/>
            <a:ext cx="592015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| </a:t>
            </a:r>
            <a:fld id="{DFDFB3FA-7294-9342-A177-AF704A3534F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9AEE46-7A55-6248-B917-4F8ACDBC2C7F}"/>
              </a:ext>
            </a:extLst>
          </p:cNvPr>
          <p:cNvSpPr txBox="1"/>
          <p:nvPr userDrawn="1"/>
        </p:nvSpPr>
        <p:spPr>
          <a:xfrm>
            <a:off x="325259" y="6516203"/>
            <a:ext cx="7747183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85" dirty="0">
                <a:solidFill>
                  <a:schemeClr val="bg1">
                    <a:lumMod val="50000"/>
                  </a:schemeClr>
                </a:solidFill>
                <a:latin typeface="Avenir" panose="02000503020000020003" pitchFamily="2" charset="0"/>
              </a:rPr>
              <a:t>This document is proprietary &amp; confidential. No part of this document may be disclosed to any Third Party without the express written consent of WideSense.</a:t>
            </a:r>
          </a:p>
          <a:p>
            <a:endParaRPr lang="en-US" sz="585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20E3743B-1754-D142-8137-4A9B12DF71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75877" y="0"/>
            <a:ext cx="430847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0319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Slide (White Logo)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E122BD-0859-C342-9E18-4E32AB7BC66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75877" y="0"/>
            <a:ext cx="430847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F0FBCD7-04CC-0245-AE1E-F4C195732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256" y="236698"/>
            <a:ext cx="6562725" cy="3698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50" b="1">
                <a:latin typeface="Zona Pro" panose="02010A03040002020004" pitchFamily="2" charset="0"/>
              </a:defRPr>
            </a:lvl1pPr>
          </a:lstStyle>
          <a:p>
            <a:pPr lvl="0"/>
            <a:r>
              <a:rPr lang="en-US" dirty="0"/>
              <a:t>Insert Slide Header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8E427872-82C1-9047-89E6-10154DACD8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5440" y="828633"/>
            <a:ext cx="6562725" cy="273208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B0F0"/>
              </a:buClr>
              <a:buNone/>
              <a:defRPr>
                <a:latin typeface="Avenir" panose="02000503020000020003" pitchFamily="2" charset="0"/>
              </a:defRPr>
            </a:lvl1pPr>
            <a:lvl2pPr>
              <a:buClr>
                <a:srgbClr val="00B0F0"/>
              </a:buClr>
              <a:defRPr>
                <a:latin typeface="Avenir" panose="02000503020000020003" pitchFamily="2" charset="0"/>
              </a:defRPr>
            </a:lvl2pPr>
            <a:lvl3pPr>
              <a:buClr>
                <a:srgbClr val="00B0F0"/>
              </a:buClr>
              <a:defRPr>
                <a:latin typeface="Avenir" panose="02000503020000020003" pitchFamily="2" charset="0"/>
              </a:defRPr>
            </a:lvl3pPr>
            <a:lvl4pPr>
              <a:buClr>
                <a:srgbClr val="00B0F0"/>
              </a:buClr>
              <a:defRPr>
                <a:latin typeface="Avenir" panose="02000503020000020003" pitchFamily="2" charset="0"/>
              </a:defRPr>
            </a:lvl4pPr>
            <a:lvl5pPr>
              <a:buClr>
                <a:srgbClr val="00B0F0"/>
              </a:buClr>
              <a:defRPr>
                <a:latin typeface="Avenir" panose="02000503020000020003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4853C49-6FAB-5D4D-BBFB-E69B225C4E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90176" y="6431293"/>
            <a:ext cx="1254309" cy="33781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120DAB-4270-B04D-87EB-A250285A8EE1}"/>
              </a:ext>
            </a:extLst>
          </p:cNvPr>
          <p:cNvSpPr txBox="1"/>
          <p:nvPr userDrawn="1"/>
        </p:nvSpPr>
        <p:spPr>
          <a:xfrm>
            <a:off x="11550845" y="6456993"/>
            <a:ext cx="6335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| </a:t>
            </a:r>
            <a:fld id="{31E4C5FD-E736-1B48-B924-93088D3CA45D}" type="slidenum">
              <a:rPr lang="en-US" sz="90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9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71A3C8-7FE8-9A45-B61E-260AAA3C60B0}"/>
              </a:ext>
            </a:extLst>
          </p:cNvPr>
          <p:cNvSpPr txBox="1"/>
          <p:nvPr userDrawn="1"/>
        </p:nvSpPr>
        <p:spPr>
          <a:xfrm>
            <a:off x="325259" y="6516203"/>
            <a:ext cx="7747183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85" dirty="0">
                <a:solidFill>
                  <a:schemeClr val="bg1">
                    <a:lumMod val="50000"/>
                  </a:schemeClr>
                </a:solidFill>
                <a:latin typeface="Avenir" panose="02000503020000020003" pitchFamily="2" charset="0"/>
              </a:rPr>
              <a:t>This document is proprietary &amp; confidential. No part of this document may be disclosed to any Third Party without the express written consent of WideSense.</a:t>
            </a:r>
          </a:p>
          <a:p>
            <a:endParaRPr lang="en-US" sz="585" dirty="0"/>
          </a:p>
        </p:txBody>
      </p:sp>
    </p:spTree>
    <p:extLst>
      <p:ext uri="{BB962C8B-B14F-4D97-AF65-F5344CB8AC3E}">
        <p14:creationId xmlns:p14="http://schemas.microsoft.com/office/powerpoint/2010/main" val="16942561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lide BG Image (White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0A3ADCD6-FB41-8044-B3DA-89FF0711485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6"/>
            <a:ext cx="12192000" cy="6848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04B7F2-9FA4-0143-B870-53A3B5D26C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5107" y="6427156"/>
            <a:ext cx="1263352" cy="339957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F0FBCD7-04CC-0245-AE1E-F4C195732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256" y="236698"/>
            <a:ext cx="6562725" cy="3698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50" b="1">
                <a:latin typeface="Zona Pro" panose="02010A03040002020004" pitchFamily="2" charset="0"/>
              </a:defRPr>
            </a:lvl1pPr>
          </a:lstStyle>
          <a:p>
            <a:pPr lvl="0"/>
            <a:r>
              <a:rPr lang="en-US" dirty="0"/>
              <a:t>Insert Slide Header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8E427872-82C1-9047-89E6-10154DACD8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5440" y="828633"/>
            <a:ext cx="6562725" cy="273208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B0F0"/>
              </a:buClr>
              <a:buNone/>
              <a:defRPr>
                <a:latin typeface="Avenir" panose="02000503020000020003" pitchFamily="2" charset="0"/>
              </a:defRPr>
            </a:lvl1pPr>
            <a:lvl2pPr>
              <a:buClr>
                <a:srgbClr val="00B0F0"/>
              </a:buClr>
              <a:defRPr>
                <a:latin typeface="Avenir" panose="02000503020000020003" pitchFamily="2" charset="0"/>
              </a:defRPr>
            </a:lvl2pPr>
            <a:lvl3pPr>
              <a:buClr>
                <a:srgbClr val="00B0F0"/>
              </a:buClr>
              <a:defRPr>
                <a:latin typeface="Avenir" panose="02000503020000020003" pitchFamily="2" charset="0"/>
              </a:defRPr>
            </a:lvl3pPr>
            <a:lvl4pPr>
              <a:buClr>
                <a:srgbClr val="00B0F0"/>
              </a:buClr>
              <a:defRPr>
                <a:latin typeface="Avenir" panose="02000503020000020003" pitchFamily="2" charset="0"/>
              </a:defRPr>
            </a:lvl4pPr>
            <a:lvl5pPr>
              <a:buClr>
                <a:srgbClr val="00B0F0"/>
              </a:buClr>
              <a:defRPr>
                <a:latin typeface="Avenir" panose="02000503020000020003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3B84D58-3EE6-5C49-A8BB-0AD674BBA8E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51803" y="6456067"/>
            <a:ext cx="592015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| </a:t>
            </a:r>
            <a:fld id="{DFDFB3FA-7294-9342-A177-AF704A3534F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C07E17-ABA7-D143-88F2-1F79F26D25E2}"/>
              </a:ext>
            </a:extLst>
          </p:cNvPr>
          <p:cNvSpPr txBox="1"/>
          <p:nvPr userDrawn="1"/>
        </p:nvSpPr>
        <p:spPr>
          <a:xfrm>
            <a:off x="325259" y="6516203"/>
            <a:ext cx="7747183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85" dirty="0">
                <a:solidFill>
                  <a:schemeClr val="bg1">
                    <a:lumMod val="50000"/>
                  </a:schemeClr>
                </a:solidFill>
                <a:latin typeface="Avenir" panose="02000503020000020003" pitchFamily="2" charset="0"/>
              </a:rPr>
              <a:t>This document is proprietary &amp; confidential. No part of this document may be disclosed to any Third Party without the express written consent of WideSense.</a:t>
            </a:r>
          </a:p>
          <a:p>
            <a:endParaRPr lang="en-US" sz="585" dirty="0"/>
          </a:p>
        </p:txBody>
      </p:sp>
    </p:spTree>
    <p:extLst>
      <p:ext uri="{BB962C8B-B14F-4D97-AF65-F5344CB8AC3E}">
        <p14:creationId xmlns:p14="http://schemas.microsoft.com/office/powerpoint/2010/main" val="3794792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0A1DB9-B76C-FF4F-8981-981BA21C3B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FF8A1C-02C6-FE4A-9BA1-04B7C2CF3B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5880" y="1292228"/>
            <a:ext cx="3660981" cy="9863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BCCD76-A25B-B44F-9DD8-EF32951078F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E4ED9CD6-EED6-8A4C-A177-FBC094981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5068" y="3570795"/>
            <a:ext cx="5138737" cy="1325563"/>
          </a:xfrm>
          <a:prstGeom prst="rect">
            <a:avLst/>
          </a:prstGeom>
        </p:spPr>
        <p:txBody>
          <a:bodyPr/>
          <a:lstStyle>
            <a:lvl1pPr algn="r">
              <a:defRPr sz="2850" b="1">
                <a:latin typeface="Zona Pro" panose="02010A03040002020004" pitchFamily="2" charset="0"/>
              </a:defRPr>
            </a:lvl1pPr>
          </a:lstStyle>
          <a:p>
            <a:r>
              <a:rPr lang="en-US" dirty="0"/>
              <a:t>Insert 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19912323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29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" y="838200"/>
            <a:ext cx="11785600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6629400"/>
            <a:ext cx="4064000" cy="228600"/>
          </a:xfrm>
          <a:prstGeom prst="rect">
            <a:avLst/>
          </a:prstGeom>
          <a:solidFill>
            <a:srgbClr val="5024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University of California, Berkeley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3962400" y="6629400"/>
            <a:ext cx="4368800" cy="228600"/>
          </a:xfrm>
          <a:prstGeom prst="rect">
            <a:avLst/>
          </a:prstGeom>
          <a:solidFill>
            <a:srgbClr val="8574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50" dirty="0"/>
              <a:t>Confidential – DO NOT DISTRIBUTE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8331200" y="6629400"/>
            <a:ext cx="3860800" cy="228600"/>
          </a:xfrm>
          <a:prstGeom prst="rect">
            <a:avLst/>
          </a:prstGeom>
          <a:solidFill>
            <a:srgbClr val="ADA4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50" baseline="0" dirty="0">
                <a:solidFill>
                  <a:schemeClr val="tx1"/>
                </a:solidFill>
              </a:rPr>
              <a:t>MPC lab – HMC                                       </a:t>
            </a:r>
            <a:fld id="{E33464D9-3BE2-42F2-8545-779134CE1523}" type="slidenum">
              <a:rPr lang="en-US" sz="1050" baseline="0" smtClean="0">
                <a:solidFill>
                  <a:schemeClr val="tx1"/>
                </a:solidFill>
              </a:rPr>
              <a:pPr algn="r"/>
              <a:t>‹#›</a:t>
            </a:fld>
            <a:endParaRPr lang="en-US" sz="105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0" r:id="rId12"/>
    <p:sldLayoutId id="2147483704" r:id="rId13"/>
  </p:sldLayoutIdLst>
  <p:txStyles>
    <p:titleStyle>
      <a:lvl1pPr algn="ctr" defTabSz="685783" rtl="0" eaLnBrk="1" latinLnBrk="0" hangingPunct="1">
        <a:spcBef>
          <a:spcPct val="0"/>
        </a:spcBef>
        <a:buNone/>
        <a:defRPr sz="2100" b="1" kern="1200">
          <a:solidFill>
            <a:srgbClr val="5024DE"/>
          </a:solidFill>
          <a:latin typeface="Avenir" panose="02000503020000020003"/>
          <a:ea typeface="+mj-ea"/>
          <a:cs typeface="+mj-cs"/>
        </a:defRPr>
      </a:lvl1pPr>
    </p:titleStyle>
    <p:bodyStyle>
      <a:lvl1pPr marL="257168" indent="-257168" algn="l" defTabSz="685783" rtl="0" eaLnBrk="1" latinLnBrk="0" hangingPunct="1">
        <a:spcBef>
          <a:spcPct val="20000"/>
        </a:spcBef>
        <a:buFont typeface="Arial" pitchFamily="34" charset="0"/>
        <a:buNone/>
        <a:defRPr sz="2100" kern="1200">
          <a:solidFill>
            <a:schemeClr val="tx1"/>
          </a:solidFill>
          <a:latin typeface="Avenir" panose="02000503020000020003"/>
          <a:ea typeface="+mn-ea"/>
          <a:cs typeface="+mn-cs"/>
        </a:defRPr>
      </a:lvl1pPr>
      <a:lvl2pPr marL="557199" indent="-214308" algn="l" defTabSz="685783" rtl="0" eaLnBrk="1" latinLnBrk="0" hangingPunct="1">
        <a:spcBef>
          <a:spcPct val="20000"/>
        </a:spcBef>
        <a:buSzPct val="80000"/>
        <a:buFontTx/>
        <a:buBlip>
          <a:blip r:embed="rId15"/>
        </a:buBlip>
        <a:defRPr sz="1800" kern="1200">
          <a:solidFill>
            <a:schemeClr val="tx1"/>
          </a:solidFill>
          <a:latin typeface="Avenir" panose="02000503020000020003"/>
          <a:ea typeface="+mn-ea"/>
          <a:cs typeface="+mn-cs"/>
        </a:defRPr>
      </a:lvl2pPr>
      <a:lvl3pPr marL="857228" indent="-171446" algn="l" defTabSz="685783" rtl="0" eaLnBrk="1" latinLnBrk="0" hangingPunct="1">
        <a:spcBef>
          <a:spcPct val="20000"/>
        </a:spcBef>
        <a:buSzPct val="60000"/>
        <a:buFontTx/>
        <a:buBlip>
          <a:blip r:embed="rId15"/>
        </a:buBlip>
        <a:defRPr sz="1800" kern="1200">
          <a:solidFill>
            <a:schemeClr val="tx1"/>
          </a:solidFill>
          <a:latin typeface="Avenir" panose="02000503020000020003"/>
          <a:ea typeface="+mn-ea"/>
          <a:cs typeface="+mn-cs"/>
        </a:defRPr>
      </a:lvl3pPr>
      <a:lvl4pPr marL="1200120" indent="-171446" algn="l" defTabSz="685783" rtl="0" eaLnBrk="1" latinLnBrk="0" hangingPunct="1">
        <a:spcBef>
          <a:spcPct val="20000"/>
        </a:spcBef>
        <a:buSzPct val="50000"/>
        <a:buFontTx/>
        <a:buBlip>
          <a:blip r:embed="rId15"/>
        </a:buBlip>
        <a:defRPr sz="1500" kern="1200">
          <a:solidFill>
            <a:schemeClr val="tx1"/>
          </a:solidFill>
          <a:latin typeface="Avenir" panose="02000503020000020003"/>
          <a:ea typeface="+mn-ea"/>
          <a:cs typeface="+mn-cs"/>
        </a:defRPr>
      </a:lvl4pPr>
      <a:lvl5pPr marL="1543012" indent="-171446" algn="l" defTabSz="685783" rtl="0" eaLnBrk="1" latinLnBrk="0" hangingPunct="1">
        <a:spcBef>
          <a:spcPct val="20000"/>
        </a:spcBef>
        <a:buFontTx/>
        <a:buBlip>
          <a:blip r:embed="rId15"/>
        </a:buBlip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264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</p:sldLayoutIdLs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F1E6E-1BA6-A565-E75E-88C278F82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76A9F870-DA8B-3EC3-8F56-27D6487DD428}"/>
              </a:ext>
            </a:extLst>
          </p:cNvPr>
          <p:cNvSpPr txBox="1"/>
          <p:nvPr/>
        </p:nvSpPr>
        <p:spPr>
          <a:xfrm>
            <a:off x="304800" y="1217457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1F497D"/>
                </a:solidFill>
                <a:latin typeface="Avenir" panose="02000503020000020003"/>
              </a:rPr>
              <a:t>MPC Lab – HMC Kick-Off Meeting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39B70D-DCB3-A1C9-1A57-FCB0418DED54}"/>
              </a:ext>
            </a:extLst>
          </p:cNvPr>
          <p:cNvSpPr txBox="1"/>
          <p:nvPr/>
        </p:nvSpPr>
        <p:spPr>
          <a:xfrm>
            <a:off x="2438400" y="2667000"/>
            <a:ext cx="73152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3200" dirty="0">
                <a:latin typeface="Avenir" panose="02000503020000020003"/>
                <a:cs typeface="Arial" panose="020B0604020202020204" pitchFamily="34" charset="0"/>
              </a:rPr>
              <a:t>Eric Choi, Mark Pustilnik, </a:t>
            </a:r>
            <a:r>
              <a:rPr lang="en-US" altLang="en-US" sz="3200" dirty="0" err="1">
                <a:latin typeface="Avenir" panose="02000503020000020003"/>
                <a:cs typeface="Arial" panose="020B0604020202020204" pitchFamily="34" charset="0"/>
              </a:rPr>
              <a:t>Hansung</a:t>
            </a:r>
            <a:r>
              <a:rPr lang="en-US" altLang="en-US" sz="3200" dirty="0">
                <a:latin typeface="Avenir" panose="02000503020000020003"/>
                <a:cs typeface="Arial" panose="020B0604020202020204" pitchFamily="34" charset="0"/>
              </a:rPr>
              <a:t> Kim, and Francesco Borrelli</a:t>
            </a:r>
          </a:p>
          <a:p>
            <a:pPr algn="ctr"/>
            <a:endParaRPr lang="en-US" altLang="en-US" sz="3200" dirty="0">
              <a:latin typeface="Avenir" panose="02000503020000020003"/>
              <a:cs typeface="Arial" panose="020B0604020202020204" pitchFamily="34" charset="0"/>
            </a:endParaRPr>
          </a:p>
          <a:p>
            <a:pPr algn="ctr"/>
            <a:r>
              <a:rPr lang="en-US" altLang="en-US" sz="3200" dirty="0">
                <a:latin typeface="Avenir" panose="02000503020000020003"/>
                <a:cs typeface="Arial" panose="020B0604020202020204" pitchFamily="34" charset="0"/>
              </a:rPr>
              <a:t>6/23/2025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CD11CC3-3FF9-ACFD-F04F-55D262E69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0" y="0"/>
            <a:ext cx="1752600" cy="1043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iversity of California, Berkeley - Wikipedia">
            <a:extLst>
              <a:ext uri="{FF2B5EF4-FFF2-40B4-BE49-F238E27FC236}">
                <a16:creationId xmlns:a16="http://schemas.microsoft.com/office/drawing/2014/main" id="{E5B37060-2395-BFE3-C20B-5BF80BAB2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4459" y="49596"/>
            <a:ext cx="1043157" cy="1043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148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C5428A-4198-9FE4-A17B-6B57A996E825}"/>
              </a:ext>
            </a:extLst>
          </p:cNvPr>
          <p:cNvSpPr txBox="1"/>
          <p:nvPr/>
        </p:nvSpPr>
        <p:spPr>
          <a:xfrm>
            <a:off x="304800" y="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Agenda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94ADD1-0ECD-F778-F48A-92B82BFE4F4D}"/>
              </a:ext>
            </a:extLst>
          </p:cNvPr>
          <p:cNvSpPr txBox="1"/>
          <p:nvPr/>
        </p:nvSpPr>
        <p:spPr>
          <a:xfrm>
            <a:off x="533400" y="1066800"/>
            <a:ext cx="10668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3200" dirty="0"/>
              <a:t>Project Overview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200" dirty="0"/>
              <a:t>Review research goals &amp; scope of work</a:t>
            </a:r>
          </a:p>
          <a:p>
            <a:pPr marL="342900" indent="-342900">
              <a:buFont typeface="+mj-lt"/>
              <a:buAutoNum type="arabicPeriod"/>
            </a:pPr>
            <a:endParaRPr lang="en-US" sz="3200" dirty="0"/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Discussion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200" dirty="0"/>
              <a:t>Future meeting times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200" dirty="0"/>
              <a:t>Logistics</a:t>
            </a:r>
          </a:p>
        </p:txBody>
      </p:sp>
    </p:spTree>
    <p:extLst>
      <p:ext uri="{BB962C8B-B14F-4D97-AF65-F5344CB8AC3E}">
        <p14:creationId xmlns:p14="http://schemas.microsoft.com/office/powerpoint/2010/main" val="3190756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4C514-CFD4-A2E2-0D3E-6BCFBE9D8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30DEFC2-2B5B-3953-0E12-3C167405F86B}"/>
              </a:ext>
            </a:extLst>
          </p:cNvPr>
          <p:cNvSpPr txBox="1"/>
          <p:nvPr/>
        </p:nvSpPr>
        <p:spPr>
          <a:xfrm>
            <a:off x="304800" y="2490430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1F497D"/>
                </a:solidFill>
                <a:latin typeface="Avenir" panose="02000503020000020003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491973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A9965-0B7F-C4ED-4D00-69BBBCE56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B0008F-8616-A317-0E04-BDB8D8C452AD}"/>
              </a:ext>
            </a:extLst>
          </p:cNvPr>
          <p:cNvSpPr txBox="1"/>
          <p:nvPr/>
        </p:nvSpPr>
        <p:spPr>
          <a:xfrm>
            <a:off x="304800" y="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Project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735C6D-EE1B-5378-C216-C863900FA6DF}"/>
              </a:ext>
            </a:extLst>
          </p:cNvPr>
          <p:cNvSpPr txBox="1"/>
          <p:nvPr/>
        </p:nvSpPr>
        <p:spPr>
          <a:xfrm>
            <a:off x="228600" y="914400"/>
            <a:ext cx="11430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Title</a:t>
            </a:r>
            <a:r>
              <a:rPr lang="en-US" sz="2800" dirty="0"/>
              <a:t>: Enhancing EV Energy Prediction Accuracy through Terrain-Aware Modeling</a:t>
            </a:r>
          </a:p>
          <a:p>
            <a:endParaRPr lang="en-US" sz="2800" dirty="0"/>
          </a:p>
          <a:p>
            <a:r>
              <a:rPr lang="en-US" sz="2800" b="1" dirty="0"/>
              <a:t>Duration</a:t>
            </a:r>
            <a:r>
              <a:rPr lang="en-US" sz="2800" dirty="0"/>
              <a:t>: 7 months (June – December 2025)</a:t>
            </a:r>
          </a:p>
          <a:p>
            <a:endParaRPr lang="en-US" sz="2800" dirty="0"/>
          </a:p>
          <a:p>
            <a:r>
              <a:rPr lang="en-US" sz="2800" b="1" dirty="0"/>
              <a:t>Objective</a:t>
            </a:r>
            <a:r>
              <a:rPr lang="en-US" sz="2800" dirty="0"/>
              <a:t>: Develop and validate a road grade-aware energy consumption estimation model for electric vehicles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53337B5-9A33-FCFD-6ADB-D33666CED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800600"/>
            <a:ext cx="3023926" cy="1714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A60C268-E279-3CC8-EA85-1839D43A7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886200"/>
            <a:ext cx="1143000" cy="1124639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FADD8A0-4F87-826C-D8DC-AD39A5850F2E}"/>
              </a:ext>
            </a:extLst>
          </p:cNvPr>
          <p:cNvCxnSpPr/>
          <p:nvPr/>
        </p:nvCxnSpPr>
        <p:spPr>
          <a:xfrm flipH="1">
            <a:off x="6934200" y="4648200"/>
            <a:ext cx="457200" cy="304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2924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763EB-FD3A-879C-4619-539881E7D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E517AF-A909-703D-1D34-055CAB019262}"/>
              </a:ext>
            </a:extLst>
          </p:cNvPr>
          <p:cNvSpPr txBox="1"/>
          <p:nvPr/>
        </p:nvSpPr>
        <p:spPr>
          <a:xfrm>
            <a:off x="304800" y="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Scope of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942DFC-12D2-27BB-B05B-496CED056128}"/>
              </a:ext>
            </a:extLst>
          </p:cNvPr>
          <p:cNvSpPr txBox="1"/>
          <p:nvPr/>
        </p:nvSpPr>
        <p:spPr>
          <a:xfrm>
            <a:off x="228600" y="914400"/>
            <a:ext cx="11430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Data collection across flat, moderate, and steep road segments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Model development using physics-based or data-driven methods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System integration in a Python-based prototype tool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Performance evaluation via real-world testing</a:t>
            </a:r>
          </a:p>
          <a:p>
            <a:endParaRPr lang="en-US" sz="2800" dirty="0"/>
          </a:p>
          <a:p>
            <a:r>
              <a:rPr lang="en-US" sz="2800" dirty="0"/>
              <a:t>Research Goal: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Achieve ~10% improvement in energy prediction accuracy over baseline methods</a:t>
            </a:r>
          </a:p>
        </p:txBody>
      </p:sp>
    </p:spTree>
    <p:extLst>
      <p:ext uri="{BB962C8B-B14F-4D97-AF65-F5344CB8AC3E}">
        <p14:creationId xmlns:p14="http://schemas.microsoft.com/office/powerpoint/2010/main" val="3300241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Line 577"/>
          <p:cNvSpPr>
            <a:spLocks noChangeShapeType="1"/>
          </p:cNvSpPr>
          <p:nvPr/>
        </p:nvSpPr>
        <p:spPr bwMode="auto">
          <a:xfrm>
            <a:off x="3495675" y="1565275"/>
            <a:ext cx="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6387" name="Line 578"/>
          <p:cNvSpPr>
            <a:spLocks noChangeShapeType="1"/>
          </p:cNvSpPr>
          <p:nvPr/>
        </p:nvSpPr>
        <p:spPr bwMode="auto">
          <a:xfrm>
            <a:off x="3495675" y="2022475"/>
            <a:ext cx="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6388" name="Line 579"/>
          <p:cNvSpPr>
            <a:spLocks noChangeShapeType="1"/>
          </p:cNvSpPr>
          <p:nvPr/>
        </p:nvSpPr>
        <p:spPr bwMode="auto">
          <a:xfrm>
            <a:off x="3495675" y="4079875"/>
            <a:ext cx="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graphicFrame>
        <p:nvGraphicFramePr>
          <p:cNvPr id="13" name="Group 580"/>
          <p:cNvGraphicFramePr>
            <a:graphicFrameLocks noGrp="1"/>
          </p:cNvGraphicFramePr>
          <p:nvPr/>
        </p:nvGraphicFramePr>
        <p:xfrm>
          <a:off x="1504951" y="1081088"/>
          <a:ext cx="9136557" cy="4943476"/>
        </p:xfrm>
        <a:graphic>
          <a:graphicData uri="http://schemas.openxmlformats.org/drawingml/2006/table">
            <a:tbl>
              <a:tblPr/>
              <a:tblGrid>
                <a:gridCol w="1817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3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5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4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94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15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15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94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151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58986">
                <a:tc rowSpan="2"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Details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gridSpan="7"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Schedule (Month)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Remark</a:t>
                      </a:r>
                      <a:endParaRPr kumimoji="1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9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9060" marR="99060" anchor="ctr" horzOverflow="overflow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444">
                <a:tc rowSpan="2"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Requirements and Data Acquisition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Define detailed requirements and success criteria and conduct a literature review on EV energy models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6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 Data Acquisition / Collect Data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9060" marR="99060" anchor="ctr" horzOverflow="overflow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621">
                <a:tc rowSpan="2"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Model &amp; Algorithm Development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Develop the energy consumption estimation module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6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Integration and testing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9060" marR="99060" anchor="ctr" horzOverflow="overflow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9621"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Real-World Experiment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Deploy the system in the Hyundai IONIQ 5 for road testing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89955"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Evaluation and Improvement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Analyze the real-world test data, identify any gaps, refine the model, Fine-tune the algorithm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9621"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Final report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Wrap-up and submit a final report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bg2"/>
                        </a:buClr>
                        <a:buSzPct val="75000"/>
                        <a:defRPr kumimoji="1" sz="2800" b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1pPr>
                      <a:lvl2pPr marL="742950" indent="-285750" eaLnBrk="0" hangingPunct="0">
                        <a:defRPr kumimoji="1" sz="14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2pPr>
                      <a:lvl3pPr marL="1143000" indent="-228600" eaLnBrk="0" hangingPunct="0">
                        <a:defRPr kumimoji="1" sz="12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3pPr>
                      <a:lvl4pPr marL="1600200" indent="-228600" eaLnBrk="0" hangingPunct="0">
                        <a:defRPr kumimoji="1" sz="10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4pPr>
                      <a:lvl5pPr marL="2057400" indent="-228600" eaLnBrk="0" hangingPunct="0"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90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9060" marR="9906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2" name="Group 801">
            <a:extLst>
              <a:ext uri="{FF2B5EF4-FFF2-40B4-BE49-F238E27FC236}">
                <a16:creationId xmlns:a16="http://schemas.microsoft.com/office/drawing/2014/main" id="{0E9A626D-5434-4348-12D0-A566BDFB1E17}"/>
              </a:ext>
            </a:extLst>
          </p:cNvPr>
          <p:cNvGrpSpPr>
            <a:grpSpLocks/>
          </p:cNvGrpSpPr>
          <p:nvPr/>
        </p:nvGrpSpPr>
        <p:grpSpPr bwMode="auto">
          <a:xfrm>
            <a:off x="9651180" y="790575"/>
            <a:ext cx="1035872" cy="215900"/>
            <a:chOff x="4597" y="544"/>
            <a:chExt cx="602" cy="136"/>
          </a:xfrm>
        </p:grpSpPr>
        <p:sp>
          <p:nvSpPr>
            <p:cNvPr id="3" name="Rectangle 574">
              <a:extLst>
                <a:ext uri="{FF2B5EF4-FFF2-40B4-BE49-F238E27FC236}">
                  <a16:creationId xmlns:a16="http://schemas.microsoft.com/office/drawing/2014/main" id="{6EBB23FF-CDE5-CCC3-807F-C01DD6014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571"/>
              <a:ext cx="152" cy="82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latinLnBrk="1" hangingPunct="1"/>
              <a:endParaRPr lang="ko-KR" altLang="ko-KR" sz="1000"/>
            </a:p>
          </p:txBody>
        </p:sp>
        <p:sp>
          <p:nvSpPr>
            <p:cNvPr id="4" name="Text Box 575">
              <a:extLst>
                <a:ext uri="{FF2B5EF4-FFF2-40B4-BE49-F238E27FC236}">
                  <a16:creationId xmlns:a16="http://schemas.microsoft.com/office/drawing/2014/main" id="{12142C60-4F20-ED92-1645-F81717083D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3" y="544"/>
              <a:ext cx="47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itchFamily="18" charset="-127"/>
                  <a:ea typeface="HY헤드라인M" pitchFamily="18" charset="-127"/>
                </a:defRPr>
              </a:lvl9pPr>
            </a:lstStyle>
            <a:p>
              <a:pPr eaLnBrk="1" latinLnBrk="1" hangingPunct="1"/>
              <a:r>
                <a:rPr lang="en-GB" altLang="ko-KR" sz="800" dirty="0">
                  <a:latin typeface="맑은 고딕" pitchFamily="50" charset="-127"/>
                  <a:ea typeface="맑은 고딕" pitchFamily="50" charset="-127"/>
                </a:rPr>
                <a:t>Progress Plan</a:t>
              </a:r>
              <a:endParaRPr lang="ko-KR" altLang="en-US" sz="8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08AB3C2-E43C-4CE3-DECC-1B4967E47322}"/>
              </a:ext>
            </a:extLst>
          </p:cNvPr>
          <p:cNvSpPr txBox="1"/>
          <p:nvPr/>
        </p:nvSpPr>
        <p:spPr>
          <a:xfrm>
            <a:off x="304800" y="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Project Timeline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5630C-B3F3-3EE1-D806-84E3CBBAA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5E0E9B-993A-8940-D89F-9FDE69E7CCCB}"/>
              </a:ext>
            </a:extLst>
          </p:cNvPr>
          <p:cNvSpPr txBox="1"/>
          <p:nvPr/>
        </p:nvSpPr>
        <p:spPr>
          <a:xfrm>
            <a:off x="304800" y="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UCB Vehicle Platform</a:t>
            </a:r>
          </a:p>
        </p:txBody>
      </p:sp>
      <p:pic>
        <p:nvPicPr>
          <p:cNvPr id="4" name="Content Placeholder 18">
            <a:extLst>
              <a:ext uri="{FF2B5EF4-FFF2-40B4-BE49-F238E27FC236}">
                <a16:creationId xmlns:a16="http://schemas.microsoft.com/office/drawing/2014/main" id="{531F6712-4453-2229-525F-3A14DAF20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447800"/>
            <a:ext cx="5360070" cy="40333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82D19D-F5B1-97FC-7355-0BBD9860DD85}"/>
              </a:ext>
            </a:extLst>
          </p:cNvPr>
          <p:cNvSpPr txBox="1"/>
          <p:nvPr/>
        </p:nvSpPr>
        <p:spPr>
          <a:xfrm>
            <a:off x="6096000" y="990600"/>
            <a:ext cx="563880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Model</a:t>
            </a:r>
            <a:r>
              <a:rPr lang="en-US" sz="2800" dirty="0"/>
              <a:t>: 2023 Hyundai IONIQ 5</a:t>
            </a:r>
          </a:p>
          <a:p>
            <a:endParaRPr lang="en-US" sz="2800" b="1" dirty="0"/>
          </a:p>
          <a:p>
            <a:r>
              <a:rPr lang="en-US" sz="2800" b="1" dirty="0"/>
              <a:t>Signals</a:t>
            </a:r>
            <a:r>
              <a:rPr lang="en-US" sz="28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Vehicle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Speed, wheel torque, etc.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Energy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High/Low voltage battery power, SOC, etc.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IMU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Accel., pitch angles, etc.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GPS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Latitude and Longitude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(optional) Altitude through Google or HERE API</a:t>
            </a:r>
          </a:p>
        </p:txBody>
      </p:sp>
    </p:spTree>
    <p:extLst>
      <p:ext uri="{BB962C8B-B14F-4D97-AF65-F5344CB8AC3E}">
        <p14:creationId xmlns:p14="http://schemas.microsoft.com/office/powerpoint/2010/main" val="218906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A985E-DADA-72C9-5ED4-507F36790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EE18BCAB-6843-BD2C-6FB7-292297592A53}"/>
              </a:ext>
            </a:extLst>
          </p:cNvPr>
          <p:cNvSpPr txBox="1"/>
          <p:nvPr/>
        </p:nvSpPr>
        <p:spPr>
          <a:xfrm>
            <a:off x="304800" y="2490430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1F497D"/>
                </a:solidFill>
                <a:latin typeface="Avenir" panose="02000503020000020003"/>
              </a:rPr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321361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3A687-9ED5-50CC-C14D-70ACE678B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D2451F-52BF-AA81-3221-1F6D954FBA27}"/>
              </a:ext>
            </a:extLst>
          </p:cNvPr>
          <p:cNvSpPr txBox="1"/>
          <p:nvPr/>
        </p:nvSpPr>
        <p:spPr>
          <a:xfrm>
            <a:off x="304800" y="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Tasks until the next meeting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59BE8C-375F-4387-E66C-325D483978B1}"/>
              </a:ext>
            </a:extLst>
          </p:cNvPr>
          <p:cNvSpPr txBox="1"/>
          <p:nvPr/>
        </p:nvSpPr>
        <p:spPr>
          <a:xfrm>
            <a:off x="228600" y="914400"/>
            <a:ext cx="11430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Collect representative driving data across flat, moderate, and steep road segments to capture diverse road grade effects.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Analyze variations in energy consumption under different grade conditions.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List and evaluate energy estimation methods, including both model-based and data-driven approaches, with discussion on trade-offs, accuracy, and applicability.</a:t>
            </a:r>
          </a:p>
        </p:txBody>
      </p:sp>
    </p:spTree>
    <p:extLst>
      <p:ext uri="{BB962C8B-B14F-4D97-AF65-F5344CB8AC3E}">
        <p14:creationId xmlns:p14="http://schemas.microsoft.com/office/powerpoint/2010/main" val="172379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A82D6-9AC7-0F25-EC5E-FD67002FB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8D05AB-7B1E-8285-F90D-C408882DD288}"/>
              </a:ext>
            </a:extLst>
          </p:cNvPr>
          <p:cNvSpPr txBox="1"/>
          <p:nvPr/>
        </p:nvSpPr>
        <p:spPr>
          <a:xfrm>
            <a:off x="304800" y="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Miscellaneous Discussion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65A381-AC10-46A1-42AE-FEE9EF05E1B0}"/>
              </a:ext>
            </a:extLst>
          </p:cNvPr>
          <p:cNvSpPr txBox="1"/>
          <p:nvPr/>
        </p:nvSpPr>
        <p:spPr>
          <a:xfrm>
            <a:off x="228600" y="914400"/>
            <a:ext cx="11430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Future meeting times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Files/code </a:t>
            </a:r>
            <a:r>
              <a:rPr lang="en-US" sz="2800"/>
              <a:t>share environment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7039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E5F71-7CB2-A5F4-7146-052D6D809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8A725A-BD6F-CC11-F8EA-4D91C0F75121}"/>
              </a:ext>
            </a:extLst>
          </p:cNvPr>
          <p:cNvSpPr txBox="1"/>
          <p:nvPr/>
        </p:nvSpPr>
        <p:spPr>
          <a:xfrm>
            <a:off x="304800" y="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497D"/>
                </a:solidFill>
                <a:latin typeface="Avenir" panose="02000503020000020003"/>
              </a:rPr>
              <a:t>To 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651A2F-DF9E-6378-82BC-8471774473B1}"/>
              </a:ext>
            </a:extLst>
          </p:cNvPr>
          <p:cNvSpPr txBox="1"/>
          <p:nvPr/>
        </p:nvSpPr>
        <p:spPr>
          <a:xfrm>
            <a:off x="228600" y="914400"/>
            <a:ext cx="11430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Future meeting times: July 15 or July 16 KST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Files/code share environment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Through the email (only for small)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@Eric: try different file sharing methods, Box, </a:t>
            </a:r>
            <a:r>
              <a:rPr lang="en-US" sz="2800" dirty="0" err="1"/>
              <a:t>dropbox</a:t>
            </a:r>
            <a:r>
              <a:rPr lang="en-US" sz="2800" dirty="0"/>
              <a:t>, etc.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Visualize sample data sets, and get feedbacks (road grade)</a:t>
            </a:r>
          </a:p>
        </p:txBody>
      </p:sp>
    </p:spTree>
    <p:extLst>
      <p:ext uri="{BB962C8B-B14F-4D97-AF65-F5344CB8AC3E}">
        <p14:creationId xmlns:p14="http://schemas.microsoft.com/office/powerpoint/2010/main" val="101107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30"/>
    </mc:Choice>
    <mc:Fallback xmlns="">
      <p:transition spd="slow" advTm="993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108360</TotalTime>
  <Words>456</Words>
  <Application>Microsoft Office PowerPoint</Application>
  <PresentationFormat>Widescreen</PresentationFormat>
  <Paragraphs>150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Avenir</vt:lpstr>
      <vt:lpstr>맑은 고딕</vt:lpstr>
      <vt:lpstr>Zona Pro</vt:lpstr>
      <vt:lpstr>Arial</vt:lpstr>
      <vt:lpstr>Calibri</vt:lpstr>
      <vt:lpstr>Open Sans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Eric Choi</dc:creator>
  <cp:lastModifiedBy>Yongkeun Choi</cp:lastModifiedBy>
  <cp:revision>3344</cp:revision>
  <dcterms:created xsi:type="dcterms:W3CDTF">2011-11-11T18:56:57Z</dcterms:created>
  <dcterms:modified xsi:type="dcterms:W3CDTF">2025-06-24T02:32:47Z</dcterms:modified>
</cp:coreProperties>
</file>