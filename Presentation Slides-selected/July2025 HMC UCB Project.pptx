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1" r:id="rId2"/>
  </p:sldMasterIdLst>
  <p:notesMasterIdLst>
    <p:notesMasterId r:id="rId24"/>
  </p:notesMasterIdLst>
  <p:handoutMasterIdLst>
    <p:handoutMasterId r:id="rId25"/>
  </p:handoutMasterIdLst>
  <p:sldIdLst>
    <p:sldId id="2140" r:id="rId3"/>
    <p:sldId id="2663" r:id="rId4"/>
    <p:sldId id="2144" r:id="rId5"/>
    <p:sldId id="2141" r:id="rId6"/>
    <p:sldId id="2664" r:id="rId7"/>
    <p:sldId id="2672" r:id="rId8"/>
    <p:sldId id="2673" r:id="rId9"/>
    <p:sldId id="2674" r:id="rId10"/>
    <p:sldId id="2675" r:id="rId11"/>
    <p:sldId id="2457" r:id="rId12"/>
    <p:sldId id="2458" r:id="rId13"/>
    <p:sldId id="2504" r:id="rId14"/>
    <p:sldId id="2529" r:id="rId15"/>
    <p:sldId id="2678" r:id="rId16"/>
    <p:sldId id="2681" r:id="rId17"/>
    <p:sldId id="2683" r:id="rId18"/>
    <p:sldId id="2684" r:id="rId19"/>
    <p:sldId id="2680" r:id="rId20"/>
    <p:sldId id="2685" r:id="rId21"/>
    <p:sldId id="2659" r:id="rId22"/>
    <p:sldId id="2670" r:id="rId23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BF23C5-FBFE-4E4C-9BCD-BAB939F833E6}">
          <p14:sldIdLst>
            <p14:sldId id="2140"/>
            <p14:sldId id="2663"/>
          </p14:sldIdLst>
        </p14:section>
        <p14:section name="Recap" id="{BD91218F-ACC8-4D77-A8E8-6374DE20EAAC}">
          <p14:sldIdLst>
            <p14:sldId id="2144"/>
            <p14:sldId id="2141"/>
            <p14:sldId id="2664"/>
          </p14:sldIdLst>
        </p14:section>
        <p14:section name="Technical Update" id="{229626C3-E4DF-4D26-BB0C-6CB41E4102AA}">
          <p14:sldIdLst>
            <p14:sldId id="2672"/>
            <p14:sldId id="2673"/>
            <p14:sldId id="2674"/>
            <p14:sldId id="2675"/>
            <p14:sldId id="2457"/>
            <p14:sldId id="2458"/>
            <p14:sldId id="2504"/>
            <p14:sldId id="2529"/>
            <p14:sldId id="2678"/>
            <p14:sldId id="2681"/>
            <p14:sldId id="2683"/>
            <p14:sldId id="2684"/>
            <p14:sldId id="2680"/>
            <p14:sldId id="2685"/>
          </p14:sldIdLst>
        </p14:section>
        <p14:section name="Discussion" id="{668C85F6-C2CC-4D21-A6D2-408B571F61B6}">
          <p14:sldIdLst>
            <p14:sldId id="2659"/>
            <p14:sldId id="2670"/>
          </p14:sldIdLst>
        </p14:section>
        <p14:section name="Appendix" id="{758A53E2-FBF5-4BF0-B8D7-926D29B0188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copo Guanetti" initials="JG" lastIdx="25" clrIdx="0">
    <p:extLst>
      <p:ext uri="{19B8F6BF-5375-455C-9EA6-DF929625EA0E}">
        <p15:presenceInfo xmlns:p15="http://schemas.microsoft.com/office/powerpoint/2012/main" userId="Jacopo Guanetti" providerId="None"/>
      </p:ext>
    </p:extLst>
  </p:cmAuthor>
  <p:cmAuthor id="2" name="yeojun kim" initials="yk" lastIdx="1" clrIdx="1">
    <p:extLst>
      <p:ext uri="{19B8F6BF-5375-455C-9EA6-DF929625EA0E}">
        <p15:presenceInfo xmlns:p15="http://schemas.microsoft.com/office/powerpoint/2012/main" userId="3ad35ea800be9861" providerId="Windows Live"/>
      </p:ext>
    </p:extLst>
  </p:cmAuthor>
  <p:cmAuthor id="3" name="Jacopo Guanetti" initials="JG [2]" lastIdx="35" clrIdx="2">
    <p:extLst>
      <p:ext uri="{19B8F6BF-5375-455C-9EA6-DF929625EA0E}">
        <p15:presenceInfo xmlns:p15="http://schemas.microsoft.com/office/powerpoint/2012/main" userId="034f289b2856bfcd" providerId="Windows Live"/>
      </p:ext>
    </p:extLst>
  </p:cmAuthor>
  <p:cmAuthor id="4" name="Jacopo Guanetti" initials="JG [3]" lastIdx="3" clrIdx="3">
    <p:extLst>
      <p:ext uri="{19B8F6BF-5375-455C-9EA6-DF929625EA0E}">
        <p15:presenceInfo xmlns:p15="http://schemas.microsoft.com/office/powerpoint/2012/main" userId="S-1-5-21-1607255175-1988809344-2456378301-1001" providerId="AD"/>
      </p:ext>
    </p:extLst>
  </p:cmAuthor>
  <p:cmAuthor id="5" name="Yongkeun Choi" initials="YC" lastIdx="1" clrIdx="4">
    <p:extLst>
      <p:ext uri="{19B8F6BF-5375-455C-9EA6-DF929625EA0E}">
        <p15:presenceInfo xmlns:p15="http://schemas.microsoft.com/office/powerpoint/2012/main" userId="cb2f66560ba888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FFD965"/>
    <a:srgbClr val="5024DE"/>
    <a:srgbClr val="ADA4E0"/>
    <a:srgbClr val="E9EDF4"/>
    <a:srgbClr val="FFFFFF"/>
    <a:srgbClr val="FFFF99"/>
    <a:srgbClr val="D0D8E8"/>
    <a:srgbClr val="7030A0"/>
    <a:srgbClr val="F7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41" autoAdjust="0"/>
    <p:restoredTop sz="87331" autoAdjust="0"/>
  </p:normalViewPr>
  <p:slideViewPr>
    <p:cSldViewPr>
      <p:cViewPr varScale="1">
        <p:scale>
          <a:sx n="141" d="100"/>
          <a:sy n="141" d="100"/>
        </p:scale>
        <p:origin x="796" y="64"/>
      </p:cViewPr>
      <p:guideLst>
        <p:guide orient="horz" pos="249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18" d="100"/>
          <a:sy n="118" d="100"/>
        </p:scale>
        <p:origin x="1320" y="76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10" y="0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/>
          <a:lstStyle>
            <a:lvl1pPr algn="r">
              <a:defRPr sz="1300"/>
            </a:lvl1pPr>
          </a:lstStyle>
          <a:p>
            <a:fld id="{E3BC5374-F9B0-4188-89A7-20F224DCA0C3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658665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10" y="6658665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 anchor="b"/>
          <a:lstStyle>
            <a:lvl1pPr algn="r">
              <a:defRPr sz="1300"/>
            </a:lvl1pPr>
          </a:lstStyle>
          <a:p>
            <a:fld id="{0B72640C-123E-4DD2-9C26-AC7FE93C7F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83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10" y="0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/>
          <a:lstStyle>
            <a:lvl1pPr algn="r">
              <a:defRPr sz="1300"/>
            </a:lvl1pPr>
          </a:lstStyle>
          <a:p>
            <a:fld id="{74E51504-4EDC-4028-9932-8D73530919EE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6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2" rIns="92286" bIns="4614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1"/>
            <a:ext cx="7437120" cy="3154680"/>
          </a:xfrm>
          <a:prstGeom prst="rect">
            <a:avLst/>
          </a:prstGeom>
        </p:spPr>
        <p:txBody>
          <a:bodyPr vert="horz" lIns="92286" tIns="46142" rIns="92286" bIns="4614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658665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10" y="6658665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 anchor="b"/>
          <a:lstStyle>
            <a:lvl1pPr algn="r">
              <a:defRPr sz="1300"/>
            </a:lvl1pPr>
          </a:lstStyle>
          <a:p>
            <a:fld id="{43F0C051-CD26-41D8-9BA5-F9EF0AD610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61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F474-15B8-B176-278A-3BF6A2BE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3069E-F284-71AE-D1FF-25B25DD07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ECDFC-3797-13A4-1A5A-0A15D990A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AE4DF-33B9-D61A-85F6-581F1D9BF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52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73DB-13DA-B6AA-0EA1-C7F53BCF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7FCAA-126C-A161-6868-7C0517584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2D2F2-0124-D660-4C23-83E70CD40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CD313-48A3-5713-E71F-54F8A3711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2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3DBF-9F55-D395-12DF-8B73A26A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91303-BC9B-E9C7-02E5-3579EE082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C615C-6F63-E882-36DB-F89DEC4A0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39483-6A9B-FDFE-ECDC-C4E7A0903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1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AE4B-0ACD-22D7-4F57-7381F30A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2862B-1E37-E46F-A1F8-CEDC1DED6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B9ECA-B224-230A-3A98-3D2AE432D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33562-248E-08B1-29E5-D13C155D5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69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F7C16-DD75-84DD-70EB-1D192B88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56E2F-FB86-F35B-9816-6CF66DE9F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40229-1382-8935-04D6-122E4C797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3935B-6AEE-131C-88FC-704032151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36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B155-248F-5ACA-CB8F-7F9D2ABB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48DEC-18E0-6AD7-6AD3-5D60D7A79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AA5A6-261D-4074-48F5-98C871FE6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81B1B-CB2B-30B1-46C5-025134E73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85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5F0C7-608A-C32C-83D1-FD460B717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B75BA-BEBA-6774-7FD2-46920D694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472AA-1FCF-8FA3-C428-6FDCC0D7D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00C42-1EA9-904A-0F15-5D04D750E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31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DA9EF-C4B5-8ED6-055E-026380DFC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18654-683D-1C2A-6960-BE3F1CCA1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14C4B-CD3C-8296-A705-410D72728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B8553-8D76-589C-A79A-3DCF3E530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56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11053-CED0-EBB2-D471-B49EF072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B3ADD-7383-5FAC-5099-90F5580CD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2F4AD-9D69-4534-788B-3F3A1FEA3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A17B6-2758-59A5-970D-E08EF08BC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17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4B10-085E-E1BF-ABC1-6AD1705A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DD6B2-B462-5BD9-E658-80D79EA57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C3DA9-6650-A092-45C6-AC0960E67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27B7A-6C14-08DE-0646-57CEFA13A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80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6E247-3E83-95C6-5D04-304CC613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562FF-12C4-648C-E689-ECE772B84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38F2A-36F5-C03E-1A17-A4EF164C8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06A14-9722-6712-1888-8D0D8CD4E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32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17977-1579-345F-5EC7-04C273A4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8CA06-A773-C68F-0553-292ABFE85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9D77C-563D-044E-5229-73EE80F7A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91EF3-07E0-7C38-1EE3-7738BCF88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86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CF04-7478-E635-22F3-821EE176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DE1E3-7BAE-423A-5A8C-8CACED783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CD884-E0F6-3D0F-85AE-2EBC243C4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A664E-2EB1-6A45-C5AA-3822ADABB8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31B4A-3485-43DF-240B-054AB45C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A9512-CFB9-9CF7-81A3-B70CAAF1C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BE196-E685-AD0E-E6AF-CD4296345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94452-00EC-5596-BBD8-2A48F21F83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2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40C4-D723-2A6C-889E-73CAF2A7A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8A610-9685-C306-B672-B06E144BF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876B4-37C0-D6DD-0DC1-087E025CC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7D479-220E-3230-6DBC-E2E9324AB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9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jpe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A75FA5-D7F9-5EDF-8462-B232A284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858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838200"/>
            <a:ext cx="11785600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625896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730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04CE64-C5B7-CF45-8E2E-6E5C4590F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1708" y="564993"/>
            <a:ext cx="4240697" cy="11425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4E6E88-B3C1-3147-817E-4EBEBC74B9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C71BC0C-5823-5F4D-9F43-026AEC448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3668" y="2948499"/>
            <a:ext cx="5138737" cy="1145632"/>
          </a:xfrm>
          <a:prstGeom prst="rect">
            <a:avLst/>
          </a:prstGeom>
        </p:spPr>
        <p:txBody>
          <a:bodyPr/>
          <a:lstStyle>
            <a:lvl1pPr algn="r">
              <a:defRPr sz="2850" b="1">
                <a:latin typeface="Zona Pro" panose="02010A03040002020004" pitchFamily="2" charset="0"/>
              </a:defRPr>
            </a:lvl1pPr>
          </a:lstStyle>
          <a:p>
            <a:r>
              <a:rPr lang="en-US" dirty="0"/>
              <a:t>Presentation Deck Main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81B985C-286E-F841-BA77-7497FBB19E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43668" y="4256182"/>
            <a:ext cx="5138737" cy="868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950">
                <a:solidFill>
                  <a:schemeClr val="bg2">
                    <a:lumMod val="50000"/>
                  </a:schemeClr>
                </a:solidFill>
                <a:latin typeface="Avenir" panose="02000503020000020003" pitchFamily="2" charset="0"/>
              </a:defRPr>
            </a:lvl1pPr>
          </a:lstStyle>
          <a:p>
            <a:pPr lvl="0"/>
            <a:r>
              <a:rPr lang="en-US" dirty="0"/>
              <a:t>Presentation Deck Subtitle</a:t>
            </a:r>
          </a:p>
        </p:txBody>
      </p:sp>
    </p:spTree>
    <p:extLst>
      <p:ext uri="{BB962C8B-B14F-4D97-AF65-F5344CB8AC3E}">
        <p14:creationId xmlns:p14="http://schemas.microsoft.com/office/powerpoint/2010/main" val="3616374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(Grey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359E639-90BE-724F-B24C-8FFB7D774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3D280AE-9C48-604E-82D0-98FDAA0140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8AA7EE-B2EF-3743-9F5E-61F7A04F1B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889300A-F16B-534F-8859-46B479F8A6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72E84-A6AC-8041-BD76-AB444F7F49DF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2500759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G Image Slide (Grey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6C9173-7E15-6C47-9D9B-8623250293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6"/>
            <a:ext cx="12192000" cy="6848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359E639-90BE-724F-B24C-8FFB7D774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3D280AE-9C48-604E-82D0-98FDAA0140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20175DD-2A9E-B145-A554-17FE35A4BD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2785B01-C860-3544-98A7-68E9D220767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F8754B-D72E-4144-A4CE-865C28329479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3019866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G Image Slide (Whit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B486BF1-E4D2-8E41-A1E5-BE2652D82E94}"/>
              </a:ext>
            </a:extLst>
          </p:cNvPr>
          <p:cNvSpPr txBox="1"/>
          <p:nvPr userDrawn="1"/>
        </p:nvSpPr>
        <p:spPr>
          <a:xfrm>
            <a:off x="325259" y="6514866"/>
            <a:ext cx="7536044" cy="182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85" dirty="0">
                <a:solidFill>
                  <a:schemeClr val="bg1"/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FBCD7-04CC-0245-AE1E-F4C195732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E427872-82C1-9047-89E6-10154DACD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4853C49-6FAB-5D4D-BBFB-E69B225C4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060C39-BC96-CB4E-A1BF-E653F00311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AEE46-7A55-6248-B917-4F8ACDBC2C7F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3501492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G Image Slide (White Logo)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B486BF1-E4D2-8E41-A1E5-BE2652D82E94}"/>
              </a:ext>
            </a:extLst>
          </p:cNvPr>
          <p:cNvSpPr txBox="1"/>
          <p:nvPr userDrawn="1"/>
        </p:nvSpPr>
        <p:spPr>
          <a:xfrm>
            <a:off x="325259" y="6514866"/>
            <a:ext cx="7536044" cy="182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85" dirty="0">
                <a:solidFill>
                  <a:schemeClr val="bg1"/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FBCD7-04CC-0245-AE1E-F4C195732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E427872-82C1-9047-89E6-10154DACD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4853C49-6FAB-5D4D-BBFB-E69B225C4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060C39-BC96-CB4E-A1BF-E653F00311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AEE46-7A55-6248-B917-4F8ACDBC2C7F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0E3743B-1754-D142-8137-4A9B12DF71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75877" y="0"/>
            <a:ext cx="43084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31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Slide (White Logo)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E122BD-0859-C342-9E18-4E32AB7BC6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75877" y="0"/>
            <a:ext cx="43084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FBCD7-04CC-0245-AE1E-F4C195732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E427872-82C1-9047-89E6-10154DACD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4853C49-6FAB-5D4D-BBFB-E69B225C4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20DAB-4270-B04D-87EB-A250285A8EE1}"/>
              </a:ext>
            </a:extLst>
          </p:cNvPr>
          <p:cNvSpPr txBox="1"/>
          <p:nvPr userDrawn="1"/>
        </p:nvSpPr>
        <p:spPr>
          <a:xfrm>
            <a:off x="11550845" y="6456993"/>
            <a:ext cx="6335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| </a:t>
            </a:r>
            <a:fld id="{31E4C5FD-E736-1B48-B924-93088D3CA45D}" type="slidenum">
              <a:rPr lang="en-US" sz="9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9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1A3C8-7FE8-9A45-B61E-260AAA3C60B0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1694256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BG Image (Whit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A3ADCD6-FB41-8044-B3DA-89FF0711485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6"/>
            <a:ext cx="12192000" cy="6848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04B7F2-9FA4-0143-B870-53A3B5D26C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5107" y="6427156"/>
            <a:ext cx="1263352" cy="339957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FBCD7-04CC-0245-AE1E-F4C195732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E427872-82C1-9047-89E6-10154DACD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B84D58-3EE6-5C49-A8BB-0AD674BBA8E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07E17-ABA7-D143-88F2-1F79F26D25E2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3794792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0A1DB9-B76C-FF4F-8981-981BA21C3B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FF8A1C-02C6-FE4A-9BA1-04B7C2CF3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5880" y="1292228"/>
            <a:ext cx="3660981" cy="986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BCCD76-A25B-B44F-9DD8-EF32951078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4ED9CD6-EED6-8A4C-A177-FBC094981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5068" y="3570795"/>
            <a:ext cx="5138737" cy="1325563"/>
          </a:xfrm>
          <a:prstGeom prst="rect">
            <a:avLst/>
          </a:prstGeom>
        </p:spPr>
        <p:txBody>
          <a:bodyPr/>
          <a:lstStyle>
            <a:lvl1pPr algn="r">
              <a:defRPr sz="2850" b="1">
                <a:latin typeface="Zona Pro" panose="02010A03040002020004" pitchFamily="2" charset="0"/>
              </a:defRPr>
            </a:lvl1pPr>
          </a:lstStyle>
          <a:p>
            <a:r>
              <a:rPr lang="en-US" dirty="0"/>
              <a:t>Insert 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9912323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29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838200"/>
            <a:ext cx="117856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6629400"/>
            <a:ext cx="4064000" cy="228600"/>
          </a:xfrm>
          <a:prstGeom prst="rect">
            <a:avLst/>
          </a:prstGeom>
          <a:solidFill>
            <a:srgbClr val="5024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University of California, Berkeley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3962400" y="6629400"/>
            <a:ext cx="4368800" cy="228600"/>
          </a:xfrm>
          <a:prstGeom prst="rect">
            <a:avLst/>
          </a:prstGeom>
          <a:solidFill>
            <a:srgbClr val="857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dirty="0"/>
              <a:t>Confidential – DO NOT DISTRIBUTE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8331200" y="6629400"/>
            <a:ext cx="3860800" cy="228600"/>
          </a:xfrm>
          <a:prstGeom prst="rect">
            <a:avLst/>
          </a:prstGeom>
          <a:solidFill>
            <a:srgbClr val="ADA4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50" baseline="0" dirty="0">
                <a:solidFill>
                  <a:schemeClr val="tx1"/>
                </a:solidFill>
              </a:rPr>
              <a:t>MPC lab – HMC                                       </a:t>
            </a:r>
            <a:fld id="{E33464D9-3BE2-42F2-8545-779134CE1523}" type="slidenum">
              <a:rPr lang="en-US" sz="1050" baseline="0" smtClean="0">
                <a:solidFill>
                  <a:schemeClr val="tx1"/>
                </a:solidFill>
              </a:rPr>
              <a:pPr algn="r"/>
              <a:t>‹#›</a:t>
            </a:fld>
            <a:endParaRPr lang="en-US" sz="105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0" r:id="rId12"/>
  </p:sldLayoutIdLst>
  <p:txStyles>
    <p:titleStyle>
      <a:lvl1pPr algn="ctr" defTabSz="685783" rtl="0" eaLnBrk="1" latinLnBrk="0" hangingPunct="1">
        <a:spcBef>
          <a:spcPct val="0"/>
        </a:spcBef>
        <a:buNone/>
        <a:defRPr sz="2100" b="1" kern="1200">
          <a:solidFill>
            <a:srgbClr val="5024DE"/>
          </a:solidFill>
          <a:latin typeface="Avenir" panose="02000503020000020003"/>
          <a:ea typeface="+mj-ea"/>
          <a:cs typeface="+mj-cs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None/>
        <a:defRPr sz="2100" kern="1200">
          <a:solidFill>
            <a:schemeClr val="tx1"/>
          </a:solidFill>
          <a:latin typeface="Avenir" panose="02000503020000020003"/>
          <a:ea typeface="+mn-ea"/>
          <a:cs typeface="+mn-cs"/>
        </a:defRPr>
      </a:lvl1pPr>
      <a:lvl2pPr marL="557199" indent="-214308" algn="l" defTabSz="685783" rtl="0" eaLnBrk="1" latinLnBrk="0" hangingPunct="1">
        <a:spcBef>
          <a:spcPct val="20000"/>
        </a:spcBef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Avenir" panose="02000503020000020003"/>
          <a:ea typeface="+mn-ea"/>
          <a:cs typeface="+mn-cs"/>
        </a:defRPr>
      </a:lvl2pPr>
      <a:lvl3pPr marL="857228" indent="-171446" algn="l" defTabSz="685783" rtl="0" eaLnBrk="1" latinLnBrk="0" hangingPunct="1">
        <a:spcBef>
          <a:spcPct val="20000"/>
        </a:spcBef>
        <a:buSzPct val="60000"/>
        <a:buFontTx/>
        <a:buBlip>
          <a:blip r:embed="rId14"/>
        </a:buBlip>
        <a:defRPr sz="1800" kern="1200">
          <a:solidFill>
            <a:schemeClr val="tx1"/>
          </a:solidFill>
          <a:latin typeface="Avenir" panose="02000503020000020003"/>
          <a:ea typeface="+mn-ea"/>
          <a:cs typeface="+mn-cs"/>
        </a:defRPr>
      </a:lvl3pPr>
      <a:lvl4pPr marL="1200120" indent="-171446" algn="l" defTabSz="685783" rtl="0" eaLnBrk="1" latinLnBrk="0" hangingPunct="1">
        <a:spcBef>
          <a:spcPct val="20000"/>
        </a:spcBef>
        <a:buSzPct val="50000"/>
        <a:buFontTx/>
        <a:buBlip>
          <a:blip r:embed="rId14"/>
        </a:buBlip>
        <a:defRPr sz="1500" kern="1200">
          <a:solidFill>
            <a:schemeClr val="tx1"/>
          </a:solidFill>
          <a:latin typeface="Avenir" panose="02000503020000020003"/>
          <a:ea typeface="+mn-ea"/>
          <a:cs typeface="+mn-cs"/>
        </a:defRPr>
      </a:lvl4pPr>
      <a:lvl5pPr marL="1543012" indent="-171446" algn="l" defTabSz="685783" rtl="0" eaLnBrk="1" latinLnBrk="0" hangingPunct="1">
        <a:spcBef>
          <a:spcPct val="20000"/>
        </a:spcBef>
        <a:buFontTx/>
        <a:buBlip>
          <a:blip r:embed="rId14"/>
        </a:buBlip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4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1E6E-1BA6-A565-E75E-88C278F8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6A9F870-DA8B-3EC3-8F56-27D6487DD428}"/>
              </a:ext>
            </a:extLst>
          </p:cNvPr>
          <p:cNvSpPr txBox="1"/>
          <p:nvPr/>
        </p:nvSpPr>
        <p:spPr>
          <a:xfrm>
            <a:off x="304800" y="1217457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1F497D"/>
                </a:solidFill>
                <a:latin typeface="Avenir" panose="02000503020000020003"/>
              </a:rPr>
              <a:t>MPC Lab – HMC Meeting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9B70D-DCB3-A1C9-1A57-FCB0418DED54}"/>
              </a:ext>
            </a:extLst>
          </p:cNvPr>
          <p:cNvSpPr txBox="1"/>
          <p:nvPr/>
        </p:nvSpPr>
        <p:spPr>
          <a:xfrm>
            <a:off x="2438400" y="2667000"/>
            <a:ext cx="7315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200" dirty="0">
                <a:latin typeface="Avenir" panose="02000503020000020003"/>
                <a:cs typeface="Arial" panose="020B0604020202020204" pitchFamily="34" charset="0"/>
              </a:rPr>
              <a:t>Eric Choi, Mark Pustilnik, </a:t>
            </a:r>
            <a:r>
              <a:rPr lang="en-US" altLang="en-US" sz="3200" dirty="0" err="1">
                <a:latin typeface="Avenir" panose="02000503020000020003"/>
                <a:cs typeface="Arial" panose="020B0604020202020204" pitchFamily="34" charset="0"/>
              </a:rPr>
              <a:t>Hansung</a:t>
            </a:r>
            <a:r>
              <a:rPr lang="en-US" altLang="en-US" sz="3200" dirty="0">
                <a:latin typeface="Avenir" panose="02000503020000020003"/>
                <a:cs typeface="Arial" panose="020B0604020202020204" pitchFamily="34" charset="0"/>
              </a:rPr>
              <a:t> Kim, and Francesco Borrelli</a:t>
            </a:r>
          </a:p>
          <a:p>
            <a:pPr algn="ctr"/>
            <a:endParaRPr lang="en-US" altLang="en-US" sz="3200" dirty="0">
              <a:latin typeface="Avenir" panose="02000503020000020003"/>
              <a:cs typeface="Arial" panose="020B0604020202020204" pitchFamily="34" charset="0"/>
            </a:endParaRPr>
          </a:p>
          <a:p>
            <a:pPr algn="ctr"/>
            <a:r>
              <a:rPr lang="en-US" altLang="en-US" sz="3200" dirty="0">
                <a:latin typeface="Avenir" panose="02000503020000020003"/>
                <a:cs typeface="Arial" panose="020B0604020202020204" pitchFamily="34" charset="0"/>
              </a:rPr>
              <a:t>7/14/2025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D11CC3-3FF9-ACFD-F04F-55D262E69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0"/>
            <a:ext cx="1752600" cy="104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versity of California, Berkeley - Wikipedia">
            <a:extLst>
              <a:ext uri="{FF2B5EF4-FFF2-40B4-BE49-F238E27FC236}">
                <a16:creationId xmlns:a16="http://schemas.microsoft.com/office/drawing/2014/main" id="{E5B37060-2395-BFE3-C20B-5BF80BAB2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459" y="49596"/>
            <a:ext cx="1043157" cy="104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48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C5428A-4198-9FE4-A17B-6B57A996E825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94ADD1-0ECD-F778-F48A-92B82BFE4F4D}"/>
              </a:ext>
            </a:extLst>
          </p:cNvPr>
          <p:cNvSpPr txBox="1"/>
          <p:nvPr/>
        </p:nvSpPr>
        <p:spPr>
          <a:xfrm>
            <a:off x="533400" y="1066800"/>
            <a:ext cx="10668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/>
              <a:t>Recap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Technical Updates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/>
              <a:t>Sample data analysis</a:t>
            </a:r>
          </a:p>
          <a:p>
            <a:pPr marL="342900" indent="-342900">
              <a:buFont typeface="+mj-lt"/>
              <a:buAutoNum type="arabicPeriod"/>
            </a:pP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Discussion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/>
              <a:t>Future Roles and Responsibilities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/>
              <a:t>Scheduling Future Meetings</a:t>
            </a:r>
          </a:p>
        </p:txBody>
      </p:sp>
    </p:spTree>
    <p:extLst>
      <p:ext uri="{BB962C8B-B14F-4D97-AF65-F5344CB8AC3E}">
        <p14:creationId xmlns:p14="http://schemas.microsoft.com/office/powerpoint/2010/main" val="319075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C514-CFD4-A2E2-0D3E-6BCFBE9D8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30DEFC2-2B5B-3953-0E12-3C167405F86B}"/>
              </a:ext>
            </a:extLst>
          </p:cNvPr>
          <p:cNvSpPr txBox="1"/>
          <p:nvPr/>
        </p:nvSpPr>
        <p:spPr>
          <a:xfrm>
            <a:off x="304800" y="2490430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1F497D"/>
                </a:solidFill>
                <a:latin typeface="Avenir" panose="02000503020000020003"/>
              </a:rPr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49197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9965-0B7F-C4ED-4D00-69BBBCE56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B0008F-8616-A317-0E04-BDB8D8C452AD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35C6D-EE1B-5378-C216-C863900FA6DF}"/>
              </a:ext>
            </a:extLst>
          </p:cNvPr>
          <p:cNvSpPr txBox="1"/>
          <p:nvPr/>
        </p:nvSpPr>
        <p:spPr>
          <a:xfrm>
            <a:off x="228600" y="914400"/>
            <a:ext cx="11430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Objective</a:t>
            </a:r>
            <a:r>
              <a:rPr lang="en-US" sz="2800" dirty="0"/>
              <a:t>: Develop and validate a road grade-aware energy consumption estimation model for electric vehicles</a:t>
            </a:r>
          </a:p>
          <a:p>
            <a:endParaRPr lang="en-US" sz="2800" dirty="0"/>
          </a:p>
          <a:p>
            <a:r>
              <a:rPr lang="en-US" sz="2800" b="1" dirty="0"/>
              <a:t>Duration</a:t>
            </a:r>
            <a:r>
              <a:rPr lang="en-US" sz="2800" dirty="0"/>
              <a:t>: 7 months (June – December 2025)</a:t>
            </a:r>
          </a:p>
          <a:p>
            <a:endParaRPr lang="en-US" sz="2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3337B5-9A33-FCFD-6ADB-D33666CED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800600"/>
            <a:ext cx="3023926" cy="1714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60C268-E279-3CC8-EA85-1839D43A7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886200"/>
            <a:ext cx="1143000" cy="1124639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ADD8A0-4F87-826C-D8DC-AD39A5850F2E}"/>
              </a:ext>
            </a:extLst>
          </p:cNvPr>
          <p:cNvCxnSpPr/>
          <p:nvPr/>
        </p:nvCxnSpPr>
        <p:spPr>
          <a:xfrm flipH="1">
            <a:off x="6934200" y="4648200"/>
            <a:ext cx="45720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92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630C-B3F3-3EE1-D806-84E3CBBA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5E0E9B-993A-8940-D89F-9FDE69E7CCCB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UCB Vehicle Platform</a:t>
            </a:r>
          </a:p>
        </p:txBody>
      </p:sp>
      <p:pic>
        <p:nvPicPr>
          <p:cNvPr id="4" name="Content Placeholder 18">
            <a:extLst>
              <a:ext uri="{FF2B5EF4-FFF2-40B4-BE49-F238E27FC236}">
                <a16:creationId xmlns:a16="http://schemas.microsoft.com/office/drawing/2014/main" id="{531F6712-4453-2229-525F-3A14DAF20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47800"/>
            <a:ext cx="5360070" cy="40333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82D19D-F5B1-97FC-7355-0BBD9860DD85}"/>
              </a:ext>
            </a:extLst>
          </p:cNvPr>
          <p:cNvSpPr txBox="1"/>
          <p:nvPr/>
        </p:nvSpPr>
        <p:spPr>
          <a:xfrm>
            <a:off x="6096000" y="990600"/>
            <a:ext cx="5638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Model</a:t>
            </a:r>
            <a:r>
              <a:rPr lang="en-US" sz="2800" dirty="0"/>
              <a:t>: 2023 Hyundai IONIQ 5</a:t>
            </a:r>
          </a:p>
          <a:p>
            <a:endParaRPr lang="en-US" sz="2800" b="1" dirty="0"/>
          </a:p>
          <a:p>
            <a:r>
              <a:rPr lang="en-US" sz="2800" b="1" dirty="0"/>
              <a:t>Signals</a:t>
            </a:r>
            <a:r>
              <a:rPr lang="en-US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Vehicle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Speed, wheel torque,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Energy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High/Low voltage battery power, SOC,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IMU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Accel., pitch angles,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GPS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Latitude, Longitude, and Altitude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(optional) Altitude through Google or HERE API</a:t>
            </a:r>
          </a:p>
        </p:txBody>
      </p:sp>
    </p:spTree>
    <p:extLst>
      <p:ext uri="{BB962C8B-B14F-4D97-AF65-F5344CB8AC3E}">
        <p14:creationId xmlns:p14="http://schemas.microsoft.com/office/powerpoint/2010/main" val="218906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4E42-D8D2-C26D-3151-6FF38D8A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1E29658-78F7-1134-B36D-9DA6B88B3604}"/>
              </a:ext>
            </a:extLst>
          </p:cNvPr>
          <p:cNvSpPr txBox="1"/>
          <p:nvPr/>
        </p:nvSpPr>
        <p:spPr>
          <a:xfrm>
            <a:off x="304800" y="2490430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1F497D"/>
                </a:solidFill>
                <a:latin typeface="Avenir" panose="02000503020000020003"/>
              </a:rPr>
              <a:t>Technical Update</a:t>
            </a:r>
          </a:p>
        </p:txBody>
      </p:sp>
    </p:spTree>
    <p:extLst>
      <p:ext uri="{BB962C8B-B14F-4D97-AF65-F5344CB8AC3E}">
        <p14:creationId xmlns:p14="http://schemas.microsoft.com/office/powerpoint/2010/main" val="52629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5030-CFFE-10D3-9367-C5DF12DC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7F1CAE-F7E7-7062-88B3-892ABD3ED56F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Sample Data Collection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CD56F-09F5-AC21-3149-9D7CB64B5006}"/>
              </a:ext>
            </a:extLst>
          </p:cNvPr>
          <p:cNvSpPr txBox="1"/>
          <p:nvPr/>
        </p:nvSpPr>
        <p:spPr>
          <a:xfrm>
            <a:off x="228600" y="914400"/>
            <a:ext cx="5715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Objective</a:t>
            </a:r>
            <a:r>
              <a:rPr lang="en-US" sz="2800" dirty="0"/>
              <a:t>: Collect representative driving data across flat, moderate, and steep road segments to capture diverse road grade effects</a:t>
            </a:r>
          </a:p>
          <a:p>
            <a:endParaRPr lang="en-US" sz="2800" dirty="0"/>
          </a:p>
          <a:p>
            <a:r>
              <a:rPr lang="en-US" sz="2800" b="1" dirty="0"/>
              <a:t>Route Selected: </a:t>
            </a:r>
            <a:r>
              <a:rPr lang="en-US" sz="2800" dirty="0"/>
              <a:t>Berkeley, California</a:t>
            </a:r>
          </a:p>
          <a:p>
            <a:endParaRPr lang="en-US" sz="2800" dirty="0"/>
          </a:p>
          <a:p>
            <a:r>
              <a:rPr lang="en-US" sz="2800" b="1" dirty="0"/>
              <a:t>Signals Evaluated: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Energy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Vehicle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Road grade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DECDE-D506-5A0A-CC79-6AD05D57B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09600"/>
            <a:ext cx="6019800" cy="556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1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436F-C7F4-CDED-43B7-9D88B989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D1277A-1B02-A016-48A9-B957DBC6CD2A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Energy Usage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6A60E-E4D8-44FB-9319-22455340A73C}"/>
              </a:ext>
            </a:extLst>
          </p:cNvPr>
          <p:cNvSpPr txBox="1"/>
          <p:nvPr/>
        </p:nvSpPr>
        <p:spPr>
          <a:xfrm>
            <a:off x="228600" y="914400"/>
            <a:ext cx="11353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 this work, we measure energy consumption using the following high-voltage battery signals: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high-voltage battery </a:t>
            </a:r>
            <a:r>
              <a:rPr lang="en-US" sz="2800" b="1" dirty="0"/>
              <a:t>current,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high-voltage battery </a:t>
            </a:r>
            <a:r>
              <a:rPr lang="en-US" sz="2800" b="1" dirty="0"/>
              <a:t>voltage.</a:t>
            </a:r>
          </a:p>
          <a:p>
            <a:endParaRPr lang="en-US" sz="2800" b="1" dirty="0"/>
          </a:p>
          <a:p>
            <a:r>
              <a:rPr lang="en-US" sz="2800" dirty="0"/>
              <a:t>Additionally, we record auxiliary power usage (e.g., air conditioning and other onboard systems).</a:t>
            </a:r>
          </a:p>
        </p:txBody>
      </p:sp>
    </p:spTree>
    <p:extLst>
      <p:ext uri="{BB962C8B-B14F-4D97-AF65-F5344CB8AC3E}">
        <p14:creationId xmlns:p14="http://schemas.microsoft.com/office/powerpoint/2010/main" val="157883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41A7-2D35-53E4-16B7-210D11A7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2BE515-0774-449F-03C3-B3EDFE287E3A}"/>
              </a:ext>
            </a:extLst>
          </p:cNvPr>
          <p:cNvSpPr txBox="1"/>
          <p:nvPr/>
        </p:nvSpPr>
        <p:spPr>
          <a:xfrm>
            <a:off x="304800" y="0"/>
            <a:ext cx="1158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Background: Factors Affecting EV Energy Consumption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CF422-3D0E-DA19-2E1A-27DAF5A7A23E}"/>
              </a:ext>
            </a:extLst>
          </p:cNvPr>
          <p:cNvSpPr txBox="1"/>
          <p:nvPr/>
        </p:nvSpPr>
        <p:spPr>
          <a:xfrm>
            <a:off x="228600" y="914400"/>
            <a:ext cx="11353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Before discussing the impact of road grade on energy consumption, let’s consider the broader factors influencing a vehicle’s energy usage.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Road grade not only affects vehicle measurements, but vehicle behavior itself also plays a significant role in energy consumption.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From UC Berkeley’s previous studies on electric vehicle energy usage, higher driving speeds have been shown to lead to increased energy consumption.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Electric vehicles are less impacted by stop-and-go driving compared to internal combustion engine (ICE) vehicles.</a:t>
            </a:r>
          </a:p>
        </p:txBody>
      </p:sp>
    </p:spTree>
    <p:extLst>
      <p:ext uri="{BB962C8B-B14F-4D97-AF65-F5344CB8AC3E}">
        <p14:creationId xmlns:p14="http://schemas.microsoft.com/office/powerpoint/2010/main" val="382049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482D45-C6E1-E4AE-10D1-C5C00CD68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43000"/>
            <a:ext cx="3266794" cy="4724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55BEE41-EE72-7E98-B1FB-2B8C9A909F47}"/>
              </a:ext>
            </a:extLst>
          </p:cNvPr>
          <p:cNvSpPr/>
          <p:nvPr/>
        </p:nvSpPr>
        <p:spPr>
          <a:xfrm>
            <a:off x="3276600" y="12954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8F0037-0942-5474-D04D-1364BBB973EF}"/>
              </a:ext>
            </a:extLst>
          </p:cNvPr>
          <p:cNvSpPr/>
          <p:nvPr/>
        </p:nvSpPr>
        <p:spPr>
          <a:xfrm>
            <a:off x="2209800" y="4267200"/>
            <a:ext cx="152400" cy="1524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C1F17E-B0F9-5F67-9E98-F9A78F3804D3}"/>
              </a:ext>
            </a:extLst>
          </p:cNvPr>
          <p:cNvCxnSpPr>
            <a:cxnSpLocks/>
          </p:cNvCxnSpPr>
          <p:nvPr/>
        </p:nvCxnSpPr>
        <p:spPr>
          <a:xfrm flipH="1">
            <a:off x="2286000" y="1447800"/>
            <a:ext cx="1012918" cy="2841718"/>
          </a:xfrm>
          <a:prstGeom prst="line">
            <a:avLst/>
          </a:prstGeom>
          <a:ln w="57150" cap="flat" cmpd="sng" algn="ctr">
            <a:solidFill>
              <a:srgbClr val="5024DE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D438259-3941-2FEF-C448-0DE406E1F2CC}"/>
              </a:ext>
            </a:extLst>
          </p:cNvPr>
          <p:cNvSpPr txBox="1"/>
          <p:nvPr/>
        </p:nvSpPr>
        <p:spPr>
          <a:xfrm>
            <a:off x="3124200" y="838200"/>
            <a:ext cx="9144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884D55-CE72-1F4B-2EA3-CBBF8587B118}"/>
              </a:ext>
            </a:extLst>
          </p:cNvPr>
          <p:cNvSpPr txBox="1"/>
          <p:nvPr/>
        </p:nvSpPr>
        <p:spPr>
          <a:xfrm>
            <a:off x="2362200" y="4495800"/>
            <a:ext cx="68580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END</a:t>
            </a:r>
          </a:p>
        </p:txBody>
      </p:sp>
      <p:sp>
        <p:nvSpPr>
          <p:cNvPr id="20" name="Google Shape;414;p50">
            <a:extLst>
              <a:ext uri="{FF2B5EF4-FFF2-40B4-BE49-F238E27FC236}">
                <a16:creationId xmlns:a16="http://schemas.microsoft.com/office/drawing/2014/main" id="{C4EBA592-4146-6F16-1D10-83A1FE88957B}"/>
              </a:ext>
            </a:extLst>
          </p:cNvPr>
          <p:cNvSpPr txBox="1"/>
          <p:nvPr/>
        </p:nvSpPr>
        <p:spPr>
          <a:xfrm>
            <a:off x="4648200" y="838200"/>
            <a:ext cx="7315200" cy="498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vehicle travels in a straight line for approximately 450 meters (0.28 miles).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each experiment, we vary the vehicle's reference speed.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of using a human driver, we designed a controller to maintain a constant reference speed, consistent acceleration, and deceleration for each run.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lang="en-US" sz="2800" b="1" dirty="0">
                <a:solidFill>
                  <a:srgbClr val="5024D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Observe how energy usage varies with different traveling speeds over the same distance.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60645E-6E0F-8F92-6A28-033F32BDBCCA}"/>
              </a:ext>
            </a:extLst>
          </p:cNvPr>
          <p:cNvSpPr txBox="1"/>
          <p:nvPr/>
        </p:nvSpPr>
        <p:spPr>
          <a:xfrm>
            <a:off x="304800" y="0"/>
            <a:ext cx="1158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Background: Factors Affecting EV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821371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4AEC5FA-1394-D7D3-3852-8950590F7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217" y="5638800"/>
            <a:ext cx="384983" cy="371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EFDB2F-92D6-3A33-9B07-10E2D54FB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5267632"/>
            <a:ext cx="533400" cy="4473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3DD17FA-A79F-BCEA-DE32-F9703C5C2ADF}"/>
              </a:ext>
            </a:extLst>
          </p:cNvPr>
          <p:cNvSpPr txBox="1"/>
          <p:nvPr/>
        </p:nvSpPr>
        <p:spPr>
          <a:xfrm>
            <a:off x="76200" y="5265003"/>
            <a:ext cx="60960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Latin Modern Roman"/>
              </a:rPr>
              <a:t>The same color corresponds to the same run for the two figures above.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7399EB-51B8-A46A-C3F6-6BC0C95089E3}"/>
              </a:ext>
            </a:extLst>
          </p:cNvPr>
          <p:cNvSpPr txBox="1"/>
          <p:nvPr/>
        </p:nvSpPr>
        <p:spPr>
          <a:xfrm>
            <a:off x="6477000" y="5308937"/>
            <a:ext cx="5638800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Latin Modern Roman"/>
              </a:rPr>
              <a:t>     : High Voltage Battery Usage</a:t>
            </a:r>
          </a:p>
          <a:p>
            <a:r>
              <a:rPr lang="en-US" sz="2000" dirty="0">
                <a:solidFill>
                  <a:schemeClr val="tx1"/>
                </a:solidFill>
                <a:latin typeface="Latin Modern Roman"/>
              </a:rPr>
              <a:t>     : High Voltage Battery Usage – Auxiliary Power Usage (Motion Energy)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F9FBB-DB92-79C2-2755-373187D43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85800"/>
            <a:ext cx="5867400" cy="4400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CF87AF-ACE4-FF5D-9ACA-701708F1A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685800"/>
            <a:ext cx="6019800" cy="4514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BF7456-7315-2559-27BE-DEDD62882F10}"/>
              </a:ext>
            </a:extLst>
          </p:cNvPr>
          <p:cNvSpPr txBox="1"/>
          <p:nvPr/>
        </p:nvSpPr>
        <p:spPr>
          <a:xfrm>
            <a:off x="304800" y="0"/>
            <a:ext cx="1158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Background: Factors Affecting EV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2628390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C653-C585-866B-D6AE-535DD0C80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96F1EE9-1872-61D0-EAD6-DCE1A3E21C45}"/>
              </a:ext>
            </a:extLst>
          </p:cNvPr>
          <p:cNvSpPr txBox="1"/>
          <p:nvPr/>
        </p:nvSpPr>
        <p:spPr>
          <a:xfrm>
            <a:off x="381000" y="526946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Latin Modern Roman"/>
              </a:rPr>
              <a:t>The experiments were repeated with </a:t>
            </a:r>
            <a:r>
              <a:rPr lang="en-US" sz="1800" b="1" dirty="0">
                <a:solidFill>
                  <a:srgbClr val="1F497D"/>
                </a:solidFill>
                <a:latin typeface="Latin Modern Roman"/>
              </a:rPr>
              <a:t>AC usage averaging approximately 440 watts</a:t>
            </a:r>
            <a:r>
              <a:rPr lang="en-US" sz="1800" dirty="0">
                <a:solidFill>
                  <a:schemeClr val="tx1"/>
                </a:solidFill>
                <a:latin typeface="Latin Modern Roman"/>
              </a:rPr>
              <a:t>.</a:t>
            </a:r>
          </a:p>
        </p:txBody>
      </p:sp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F30D4B0C-A228-15CF-A7A5-0C0C22661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04900"/>
            <a:ext cx="5334000" cy="4000500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5BEC3BCC-3F2A-BB5C-D891-4BE8A35AB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66800"/>
            <a:ext cx="5334000" cy="4000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B18B48-CCDB-BDF0-1D5E-086C6081E37B}"/>
              </a:ext>
            </a:extLst>
          </p:cNvPr>
          <p:cNvSpPr txBox="1"/>
          <p:nvPr/>
        </p:nvSpPr>
        <p:spPr>
          <a:xfrm>
            <a:off x="304800" y="0"/>
            <a:ext cx="1158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Background: Factors Affecting EV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83653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25C2-3BB2-AB51-9FDD-B278E6C8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E409EE6-E064-CBD7-FBC8-75C2C84F5C06}"/>
              </a:ext>
            </a:extLst>
          </p:cNvPr>
          <p:cNvSpPr txBox="1"/>
          <p:nvPr/>
        </p:nvSpPr>
        <p:spPr>
          <a:xfrm>
            <a:off x="381000" y="525780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Latin Modern Roman"/>
              </a:rPr>
              <a:t>The experiments were repeated </a:t>
            </a:r>
            <a:r>
              <a:rPr lang="en-US" sz="1800" b="1" dirty="0">
                <a:solidFill>
                  <a:srgbClr val="1F497D"/>
                </a:solidFill>
                <a:latin typeface="Latin Modern Roman"/>
              </a:rPr>
              <a:t>without AC usage</a:t>
            </a:r>
            <a:r>
              <a:rPr lang="en-US" dirty="0">
                <a:latin typeface="Latin Modern Roman"/>
              </a:rPr>
              <a:t>. As a result, </a:t>
            </a:r>
            <a:r>
              <a:rPr lang="en-US" sz="1800" dirty="0">
                <a:solidFill>
                  <a:schemeClr val="tx1"/>
                </a:solidFill>
                <a:latin typeface="Latin Modern Roman"/>
              </a:rPr>
              <a:t>energy consumption decreased by </a:t>
            </a:r>
            <a:r>
              <a:rPr lang="en-US" sz="1800" b="1" dirty="0">
                <a:solidFill>
                  <a:srgbClr val="1F497D"/>
                </a:solidFill>
                <a:latin typeface="Latin Modern Roman"/>
              </a:rPr>
              <a:t>9.2% on average </a:t>
            </a:r>
            <a:r>
              <a:rPr lang="en-US" sz="1800" dirty="0">
                <a:solidFill>
                  <a:schemeClr val="tx1"/>
                </a:solidFill>
                <a:latin typeface="Latin Modern Roman"/>
              </a:rPr>
              <a:t>in experiments without AC usage.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6EEB9B80-D19F-6E28-53BF-5FF9140C6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66800"/>
            <a:ext cx="5334000" cy="4000500"/>
          </a:xfrm>
          <a:prstGeom prst="rect">
            <a:avLst/>
          </a:prstGeom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E548132C-DEFC-328A-4FE7-2EE35ADE0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04900"/>
            <a:ext cx="5334000" cy="4000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D34463-57A7-281D-E05E-17F53080A4C5}"/>
              </a:ext>
            </a:extLst>
          </p:cNvPr>
          <p:cNvSpPr txBox="1"/>
          <p:nvPr/>
        </p:nvSpPr>
        <p:spPr>
          <a:xfrm>
            <a:off x="9220200" y="3886200"/>
            <a:ext cx="24384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O: With AC usage</a:t>
            </a:r>
          </a:p>
          <a:p>
            <a:r>
              <a:rPr lang="en-US" b="1" dirty="0"/>
              <a:t>X: Without AC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18037-6A07-949A-8B93-B056A5F57413}"/>
              </a:ext>
            </a:extLst>
          </p:cNvPr>
          <p:cNvSpPr txBox="1"/>
          <p:nvPr/>
        </p:nvSpPr>
        <p:spPr>
          <a:xfrm>
            <a:off x="304800" y="0"/>
            <a:ext cx="1158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Background: Factors Affecting EV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3598036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BE06-FEE8-8955-D86D-4E24A79B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8CD9B1-2224-5DE1-D665-EF2551F56493}"/>
              </a:ext>
            </a:extLst>
          </p:cNvPr>
          <p:cNvSpPr txBox="1"/>
          <p:nvPr/>
        </p:nvSpPr>
        <p:spPr>
          <a:xfrm>
            <a:off x="381000" y="525780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Latin Modern Roman"/>
              </a:rPr>
              <a:t>The experiments were repeated </a:t>
            </a:r>
            <a:r>
              <a:rPr lang="en-US" sz="1800" b="1" dirty="0">
                <a:solidFill>
                  <a:srgbClr val="1F497D"/>
                </a:solidFill>
                <a:latin typeface="Latin Modern Roman"/>
              </a:rPr>
              <a:t>without AC usage</a:t>
            </a:r>
            <a:r>
              <a:rPr lang="en-US" dirty="0">
                <a:latin typeface="Latin Modern Roman"/>
              </a:rPr>
              <a:t>. As a result, </a:t>
            </a:r>
            <a:r>
              <a:rPr lang="en-US" sz="1800" dirty="0">
                <a:solidFill>
                  <a:schemeClr val="tx1"/>
                </a:solidFill>
                <a:latin typeface="Latin Modern Roman"/>
              </a:rPr>
              <a:t>energy consumption decreased by </a:t>
            </a:r>
            <a:r>
              <a:rPr lang="en-US" sz="1800" b="1" dirty="0">
                <a:solidFill>
                  <a:srgbClr val="1F497D"/>
                </a:solidFill>
                <a:latin typeface="Latin Modern Roman"/>
              </a:rPr>
              <a:t>9.2% on average </a:t>
            </a:r>
            <a:r>
              <a:rPr lang="en-US" sz="1800" dirty="0">
                <a:solidFill>
                  <a:schemeClr val="tx1"/>
                </a:solidFill>
                <a:latin typeface="Latin Modern Roman"/>
              </a:rPr>
              <a:t>in experiments without AC usage.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BC34AD3A-AF49-3188-0261-BD0F6EB4E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66800"/>
            <a:ext cx="5334000" cy="4000500"/>
          </a:xfrm>
          <a:prstGeom prst="rect">
            <a:avLst/>
          </a:prstGeom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4E4296AF-8887-2D29-D7FB-E9C8FABF3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04900"/>
            <a:ext cx="5334000" cy="4000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C687D0-5FCE-999D-A363-DFA522C700A4}"/>
              </a:ext>
            </a:extLst>
          </p:cNvPr>
          <p:cNvSpPr txBox="1"/>
          <p:nvPr/>
        </p:nvSpPr>
        <p:spPr>
          <a:xfrm>
            <a:off x="9220200" y="3886200"/>
            <a:ext cx="24384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O: With AC usage</a:t>
            </a:r>
          </a:p>
          <a:p>
            <a:r>
              <a:rPr lang="en-US" b="1" dirty="0"/>
              <a:t>X: Without AC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0877A-0936-D0AE-AAEA-8F172A02E74C}"/>
              </a:ext>
            </a:extLst>
          </p:cNvPr>
          <p:cNvSpPr txBox="1"/>
          <p:nvPr/>
        </p:nvSpPr>
        <p:spPr>
          <a:xfrm>
            <a:off x="304800" y="0"/>
            <a:ext cx="1158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Background: Factors Affecting EV Energy Consumption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1D6C3E-A91C-EB8A-73C4-7F70E326F6FA}"/>
              </a:ext>
            </a:extLst>
          </p:cNvPr>
          <p:cNvSpPr/>
          <p:nvPr/>
        </p:nvSpPr>
        <p:spPr>
          <a:xfrm>
            <a:off x="76200" y="609600"/>
            <a:ext cx="12039600" cy="59436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42FF2-D40C-673E-BF8D-F9433E80F1B9}"/>
              </a:ext>
            </a:extLst>
          </p:cNvPr>
          <p:cNvSpPr txBox="1"/>
          <p:nvPr/>
        </p:nvSpPr>
        <p:spPr>
          <a:xfrm>
            <a:off x="204676" y="2625296"/>
            <a:ext cx="11782647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Latin Modern Roman"/>
              </a:rPr>
              <a:t>Based on this experiment, when comparing the impact of road grade on energy consumption, it is important to account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Latin Modern Roman"/>
              </a:rPr>
              <a:t>Auxiliary power usage (e.g., air conditioning)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Latin Modern Roman"/>
              </a:rPr>
              <a:t>Vehicle speed (travel time)</a:t>
            </a:r>
          </a:p>
        </p:txBody>
      </p:sp>
    </p:spTree>
    <p:extLst>
      <p:ext uri="{BB962C8B-B14F-4D97-AF65-F5344CB8AC3E}">
        <p14:creationId xmlns:p14="http://schemas.microsoft.com/office/powerpoint/2010/main" val="3943507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A5A31-4451-A601-F887-462711D1B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827589-4C68-CF6D-EB61-9E16E7CB80E1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Sample Data Collection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5A7F2-A34E-9850-1281-AE78F4580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5800"/>
            <a:ext cx="6019800" cy="5563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95DCFA-D9F7-3757-5F79-E45621D4E63A}"/>
              </a:ext>
            </a:extLst>
          </p:cNvPr>
          <p:cNvSpPr txBox="1"/>
          <p:nvPr/>
        </p:nvSpPr>
        <p:spPr>
          <a:xfrm>
            <a:off x="6553200" y="838200"/>
            <a:ext cx="167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Flat Road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E9421-B335-E9A9-600C-089743A87639}"/>
              </a:ext>
            </a:extLst>
          </p:cNvPr>
          <p:cNvSpPr txBox="1"/>
          <p:nvPr/>
        </p:nvSpPr>
        <p:spPr>
          <a:xfrm>
            <a:off x="6553200" y="1295400"/>
            <a:ext cx="350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Moderate Road Grade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E6083C-CD37-5B83-3649-1D135E65D3D5}"/>
              </a:ext>
            </a:extLst>
          </p:cNvPr>
          <p:cNvSpPr txBox="1"/>
          <p:nvPr/>
        </p:nvSpPr>
        <p:spPr>
          <a:xfrm>
            <a:off x="6553200" y="1752600"/>
            <a:ext cx="350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Steep Road Grade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F30F5B-B517-F342-8310-D7D25666CFCF}"/>
              </a:ext>
            </a:extLst>
          </p:cNvPr>
          <p:cNvCxnSpPr>
            <a:cxnSpLocks/>
          </p:cNvCxnSpPr>
          <p:nvPr/>
        </p:nvCxnSpPr>
        <p:spPr>
          <a:xfrm flipV="1">
            <a:off x="3657600" y="2819400"/>
            <a:ext cx="685800" cy="7620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6D5691-9196-7E5A-6FC3-A9100FB0D15D}"/>
              </a:ext>
            </a:extLst>
          </p:cNvPr>
          <p:cNvCxnSpPr>
            <a:cxnSpLocks/>
          </p:cNvCxnSpPr>
          <p:nvPr/>
        </p:nvCxnSpPr>
        <p:spPr>
          <a:xfrm flipV="1">
            <a:off x="3886200" y="1752600"/>
            <a:ext cx="533400" cy="45720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F0F3CF-E1A3-2868-3A72-DF83469ACFF0}"/>
              </a:ext>
            </a:extLst>
          </p:cNvPr>
          <p:cNvCxnSpPr>
            <a:cxnSpLocks/>
          </p:cNvCxnSpPr>
          <p:nvPr/>
        </p:nvCxnSpPr>
        <p:spPr>
          <a:xfrm flipV="1">
            <a:off x="2801383" y="3657600"/>
            <a:ext cx="703817" cy="11186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652E7A3-A411-F7BB-7526-1DE4D39BC791}"/>
              </a:ext>
            </a:extLst>
          </p:cNvPr>
          <p:cNvSpPr txBox="1"/>
          <p:nvPr/>
        </p:nvSpPr>
        <p:spPr>
          <a:xfrm>
            <a:off x="6553200" y="2362200"/>
            <a:ext cx="5410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Total traveled distance: ~750 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Total travel time: ~100 seconds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Normal Driving Mode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Regen Level 1</a:t>
            </a:r>
          </a:p>
        </p:txBody>
      </p:sp>
    </p:spTree>
    <p:extLst>
      <p:ext uri="{BB962C8B-B14F-4D97-AF65-F5344CB8AC3E}">
        <p14:creationId xmlns:p14="http://schemas.microsoft.com/office/powerpoint/2010/main" val="297172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F7EB-B4CD-29B8-274D-6525EF3D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8BC4DB-E38C-93EB-C75D-469602565270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Sample Data Collection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E205D-774D-15BF-D051-8E131F666963}"/>
              </a:ext>
            </a:extLst>
          </p:cNvPr>
          <p:cNvSpPr txBox="1"/>
          <p:nvPr/>
        </p:nvSpPr>
        <p:spPr>
          <a:xfrm>
            <a:off x="1219200" y="1447800"/>
            <a:ext cx="167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Flat Road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EBEE5-E372-F967-4F25-E15D305AFC48}"/>
              </a:ext>
            </a:extLst>
          </p:cNvPr>
          <p:cNvSpPr txBox="1"/>
          <p:nvPr/>
        </p:nvSpPr>
        <p:spPr>
          <a:xfrm>
            <a:off x="4495800" y="1447800"/>
            <a:ext cx="350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Moderate Road Grade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43B08-C63C-0BEB-8B40-29C5B7984316}"/>
              </a:ext>
            </a:extLst>
          </p:cNvPr>
          <p:cNvSpPr txBox="1"/>
          <p:nvPr/>
        </p:nvSpPr>
        <p:spPr>
          <a:xfrm>
            <a:off x="8458200" y="1524000"/>
            <a:ext cx="350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Steep Road Grade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0F7AAB-4634-C32B-BDD8-331E1A775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2133600"/>
            <a:ext cx="4165600" cy="3124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D0FE7A-2A9D-43EE-69FA-1D7C20A4A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2057400"/>
            <a:ext cx="4267200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5C43FC-D600-FF38-DEFC-524EA38DD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57400"/>
            <a:ext cx="42164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8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4734-B535-0AF6-87C2-C2279721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8C2497-7EF0-13AD-53AB-65D3497831CF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Sample Data Collection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6F791D-9333-06B3-E8EF-219DDF846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861749"/>
              </p:ext>
            </p:extLst>
          </p:nvPr>
        </p:nvGraphicFramePr>
        <p:xfrm>
          <a:off x="609600" y="1371600"/>
          <a:ext cx="10820401" cy="444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679">
                  <a:extLst>
                    <a:ext uri="{9D8B030D-6E8A-4147-A177-3AD203B41FA5}">
                      <a16:colId xmlns:a16="http://schemas.microsoft.com/office/drawing/2014/main" val="1828417639"/>
                    </a:ext>
                  </a:extLst>
                </a:gridCol>
                <a:gridCol w="2434590">
                  <a:extLst>
                    <a:ext uri="{9D8B030D-6E8A-4147-A177-3AD203B41FA5}">
                      <a16:colId xmlns:a16="http://schemas.microsoft.com/office/drawing/2014/main" val="805497043"/>
                    </a:ext>
                  </a:extLst>
                </a:gridCol>
                <a:gridCol w="2637473">
                  <a:extLst>
                    <a:ext uri="{9D8B030D-6E8A-4147-A177-3AD203B41FA5}">
                      <a16:colId xmlns:a16="http://schemas.microsoft.com/office/drawing/2014/main" val="356665095"/>
                    </a:ext>
                  </a:extLst>
                </a:gridCol>
                <a:gridCol w="2603659">
                  <a:extLst>
                    <a:ext uri="{9D8B030D-6E8A-4147-A177-3AD203B41FA5}">
                      <a16:colId xmlns:a16="http://schemas.microsoft.com/office/drawing/2014/main" val="4005147347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Steep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521039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Travel Time [s]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82511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Travel Distance [m]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2172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Average AC Power [W]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89842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Average Pitch [deg]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951957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Total Energy Consumption [MJ]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293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72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228C3-0A2F-572B-490B-5B596BE6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268FC-0766-5215-B7D2-DB6C4DAC8732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Sample Data Collection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8179DE-A201-1195-4DFA-C9BB31894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066800"/>
            <a:ext cx="64008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9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B5C00-C795-A208-6B42-51FC8894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429F8D-6A51-77E6-98D4-4C81DA46D99F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Sample Data Collection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90CAF6-205B-95A8-0734-A26521BD2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529788"/>
            <a:ext cx="5715000" cy="19354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EA074B-D327-0643-039A-08EAC8A14A10}"/>
              </a:ext>
            </a:extLst>
          </p:cNvPr>
          <p:cNvSpPr txBox="1"/>
          <p:nvPr/>
        </p:nvSpPr>
        <p:spPr>
          <a:xfrm>
            <a:off x="7086600" y="1143000"/>
            <a:ext cx="3429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Moderate altitude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dGPS</a:t>
            </a:r>
            <a:r>
              <a:rPr lang="en-US" dirty="0"/>
              <a:t>: 73 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 Earth Pro: 74 meters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Steep altitude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dGPS</a:t>
            </a:r>
            <a:r>
              <a:rPr lang="en-US" dirty="0"/>
              <a:t>: 125 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 Earth Pro: 133 meters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E7CF46-7040-34A2-855C-4CBD61836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1219200"/>
            <a:ext cx="5652412" cy="194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6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985E-DADA-72C9-5ED4-507F3679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E18BCAB-6843-BD2C-6FB7-292297592A53}"/>
              </a:ext>
            </a:extLst>
          </p:cNvPr>
          <p:cNvSpPr txBox="1"/>
          <p:nvPr/>
        </p:nvSpPr>
        <p:spPr>
          <a:xfrm>
            <a:off x="304800" y="2490430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1F497D"/>
                </a:solidFill>
                <a:latin typeface="Avenir" panose="02000503020000020003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21361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A82D6-9AC7-0F25-EC5E-FD67002FB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D05AB-7B1E-8285-F90D-C408882DD288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5A381-AC10-46A1-42AE-FEE9EF05E1B0}"/>
              </a:ext>
            </a:extLst>
          </p:cNvPr>
          <p:cNvSpPr txBox="1"/>
          <p:nvPr/>
        </p:nvSpPr>
        <p:spPr>
          <a:xfrm>
            <a:off x="228600" y="914400"/>
            <a:ext cx="11430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Future Roles and Responsibilities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Scheduling Future Meetings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Files/code share environment (Box)</a:t>
            </a:r>
          </a:p>
        </p:txBody>
      </p:sp>
    </p:spTree>
    <p:extLst>
      <p:ext uri="{BB962C8B-B14F-4D97-AF65-F5344CB8AC3E}">
        <p14:creationId xmlns:p14="http://schemas.microsoft.com/office/powerpoint/2010/main" val="167039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109462</TotalTime>
  <Words>713</Words>
  <Application>Microsoft Office PowerPoint</Application>
  <PresentationFormat>Widescreen</PresentationFormat>
  <Paragraphs>152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Avenir</vt:lpstr>
      <vt:lpstr>Latin Modern Roman</vt:lpstr>
      <vt:lpstr>Zona Pro</vt:lpstr>
      <vt:lpstr>Arial</vt:lpstr>
      <vt:lpstr>Calibri</vt:lpstr>
      <vt:lpstr>Open Sans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Eric Choi</dc:creator>
  <cp:lastModifiedBy>Eric Yongkeun Choi</cp:lastModifiedBy>
  <cp:revision>3430</cp:revision>
  <dcterms:created xsi:type="dcterms:W3CDTF">2011-11-11T18:56:57Z</dcterms:created>
  <dcterms:modified xsi:type="dcterms:W3CDTF">2025-07-15T00:19:36Z</dcterms:modified>
</cp:coreProperties>
</file>