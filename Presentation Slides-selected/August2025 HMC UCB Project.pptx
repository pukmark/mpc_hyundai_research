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3.wmf" ContentType="image/x-wmf"/>
  <Override PartName="/ppt/media/image5.png" ContentType="image/png"/>
  <Override PartName="/ppt/media/image9.png" ContentType="image/png"/>
  <Override PartName="/ppt/media/image17.wmf" ContentType="image/x-wmf"/>
  <Override PartName="/ppt/media/image12.wmf" ContentType="image/x-wmf"/>
  <Override PartName="/ppt/media/image4.png" ContentType="image/png"/>
  <Override PartName="/ppt/media/image8.png" ContentType="image/png"/>
  <Override PartName="/ppt/media/image16.wmf" ContentType="image/x-wmf"/>
  <Override PartName="/ppt/media/image11.wmf" ContentType="image/x-wmf"/>
  <Override PartName="/ppt/media/image3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20.png" ContentType="image/png"/>
  <Override PartName="/ppt/media/image18.png" ContentType="image/png"/>
  <Override PartName="/ppt/media/image6.png" ContentType="image/png"/>
  <Override PartName="/ppt/media/image14.wmf" ContentType="image/x-wmf"/>
  <Override PartName="/ppt/media/image10.wmf" ContentType="image/x-wmf"/>
  <Override PartName="/ppt/media/image2.png" ContentType="image/png"/>
  <Override PartName="/ppt/media/image15.wmf" ContentType="image/x-wmf"/>
  <Override PartName="/ppt/media/image7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/>
  <p:notesSz cx="9296400" cy="701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78179EF-37FB-45EC-BE73-146179463DBC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2311560" y="525600"/>
            <a:ext cx="4673160" cy="26287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929520" y="3330000"/>
            <a:ext cx="7436880" cy="31543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4"/>
          </p:nvPr>
        </p:nvSpPr>
        <p:spPr>
          <a:xfrm>
            <a:off x="5265720" y="6658560"/>
            <a:ext cx="4028040" cy="350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8DC1441-8EFD-4AF6-AE2B-8F8BAACAB7F7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2311560" y="525600"/>
            <a:ext cx="4673160" cy="26287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929520" y="3330000"/>
            <a:ext cx="7436880" cy="31543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5"/>
          </p:nvPr>
        </p:nvSpPr>
        <p:spPr>
          <a:xfrm>
            <a:off x="5265720" y="6658560"/>
            <a:ext cx="4028040" cy="350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229B329-3F92-4EF1-85CB-0BD8A19D48A3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2311560" y="525600"/>
            <a:ext cx="4673160" cy="26287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929520" y="3330000"/>
            <a:ext cx="7436880" cy="31543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6"/>
          </p:nvPr>
        </p:nvSpPr>
        <p:spPr>
          <a:xfrm>
            <a:off x="5265720" y="6658560"/>
            <a:ext cx="4028040" cy="350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9E4FDE-1B49-4B4A-80C4-2FF6C274C2E6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2311560" y="525600"/>
            <a:ext cx="4673160" cy="26287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929520" y="3330000"/>
            <a:ext cx="7436880" cy="31543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7"/>
          </p:nvPr>
        </p:nvSpPr>
        <p:spPr>
          <a:xfrm>
            <a:off x="5265720" y="6658560"/>
            <a:ext cx="4028040" cy="350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D6DD0F8-6F56-4BAE-8CB3-17C9343BF9D2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2311560" y="525600"/>
            <a:ext cx="4673160" cy="26287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929520" y="3330000"/>
            <a:ext cx="7436880" cy="31543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8"/>
          </p:nvPr>
        </p:nvSpPr>
        <p:spPr>
          <a:xfrm>
            <a:off x="5265720" y="6658560"/>
            <a:ext cx="4028040" cy="350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44CD933-3CDB-4D5F-A420-084A024398F9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2311560" y="525600"/>
            <a:ext cx="4673160" cy="26287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929520" y="3330000"/>
            <a:ext cx="7436880" cy="31543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9"/>
          </p:nvPr>
        </p:nvSpPr>
        <p:spPr>
          <a:xfrm>
            <a:off x="5265720" y="6658560"/>
            <a:ext cx="4028040" cy="350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BC896FE-6C4E-4807-B0CD-6CCAACF312B6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2311560" y="525600"/>
            <a:ext cx="4673160" cy="26287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929520" y="3330000"/>
            <a:ext cx="7436880" cy="31543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0"/>
          </p:nvPr>
        </p:nvSpPr>
        <p:spPr>
          <a:xfrm>
            <a:off x="5265720" y="6658560"/>
            <a:ext cx="4028040" cy="350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FEB24F-19CE-4EC0-8C3F-C373E3F21116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2311560" y="525600"/>
            <a:ext cx="4673160" cy="26287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929520" y="3330000"/>
            <a:ext cx="7436880" cy="31543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1"/>
          </p:nvPr>
        </p:nvSpPr>
        <p:spPr>
          <a:xfrm>
            <a:off x="5265720" y="6658560"/>
            <a:ext cx="4028040" cy="350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2BBC43C-DCD3-4E58-A384-3172FAC8EB51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2311560" y="525600"/>
            <a:ext cx="4673160" cy="26287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929520" y="3330000"/>
            <a:ext cx="7436880" cy="31543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2"/>
          </p:nvPr>
        </p:nvSpPr>
        <p:spPr>
          <a:xfrm>
            <a:off x="5265720" y="6658560"/>
            <a:ext cx="4028040" cy="350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B4EFACC-34F4-48A0-8A51-145EEF796F0D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2311560" y="525600"/>
            <a:ext cx="4673160" cy="26287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929520" y="3330000"/>
            <a:ext cx="7436880" cy="31543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3"/>
          </p:nvPr>
        </p:nvSpPr>
        <p:spPr>
          <a:xfrm>
            <a:off x="5265720" y="6658560"/>
            <a:ext cx="4028040" cy="350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FAE39CA-3627-4052-949B-D428CB671D19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2311560" y="525600"/>
            <a:ext cx="4673160" cy="26287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929520" y="3330000"/>
            <a:ext cx="7436880" cy="31543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4"/>
          </p:nvPr>
        </p:nvSpPr>
        <p:spPr>
          <a:xfrm>
            <a:off x="5265720" y="6658560"/>
            <a:ext cx="4028040" cy="350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12F14B5-4027-4D0D-91D5-2C0AFAC6B221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2311560" y="525600"/>
            <a:ext cx="4673160" cy="26287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929520" y="3330000"/>
            <a:ext cx="7436880" cy="31543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5"/>
          </p:nvPr>
        </p:nvSpPr>
        <p:spPr>
          <a:xfrm>
            <a:off x="5265720" y="6658560"/>
            <a:ext cx="4028040" cy="350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42C243-1436-4C1D-84B0-2269595A03C7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2311560" y="525600"/>
            <a:ext cx="4673160" cy="26287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929520" y="3330000"/>
            <a:ext cx="7436880" cy="31543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6"/>
          </p:nvPr>
        </p:nvSpPr>
        <p:spPr>
          <a:xfrm>
            <a:off x="5265720" y="6658560"/>
            <a:ext cx="4028040" cy="350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38635D-B029-44B5-9A48-39F28EE53200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2311560" y="525600"/>
            <a:ext cx="4673160" cy="26287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929520" y="3330000"/>
            <a:ext cx="7436880" cy="31543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7"/>
          </p:nvPr>
        </p:nvSpPr>
        <p:spPr>
          <a:xfrm>
            <a:off x="5265720" y="6658560"/>
            <a:ext cx="4028040" cy="350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291B89E-7893-412F-B948-473E70F00D36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2311560" y="525600"/>
            <a:ext cx="4673160" cy="26287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929520" y="3330000"/>
            <a:ext cx="7436880" cy="31543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8"/>
          </p:nvPr>
        </p:nvSpPr>
        <p:spPr>
          <a:xfrm>
            <a:off x="5265720" y="6658560"/>
            <a:ext cx="4028040" cy="350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A4AA61F-038E-4903-98E2-BB04C122F48B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2311560" y="525600"/>
            <a:ext cx="4673160" cy="26287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929520" y="3330000"/>
            <a:ext cx="7436880" cy="31543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9"/>
          </p:nvPr>
        </p:nvSpPr>
        <p:spPr>
          <a:xfrm>
            <a:off x="5265720" y="6658560"/>
            <a:ext cx="4028040" cy="350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E1E591-327B-4108-9512-890B88934E05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2311560" y="525600"/>
            <a:ext cx="4673160" cy="26287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929520" y="3330000"/>
            <a:ext cx="7436880" cy="31543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20"/>
          </p:nvPr>
        </p:nvSpPr>
        <p:spPr>
          <a:xfrm>
            <a:off x="5265720" y="6658560"/>
            <a:ext cx="4028040" cy="350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C5B73F7-48D2-4E90-8FA9-2412116329D1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2311560" y="525600"/>
            <a:ext cx="4673160" cy="26287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929520" y="3330000"/>
            <a:ext cx="7436880" cy="31543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21"/>
          </p:nvPr>
        </p:nvSpPr>
        <p:spPr>
          <a:xfrm>
            <a:off x="5265720" y="6658560"/>
            <a:ext cx="4028040" cy="3502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355E874-5869-4524-8E64-5AF6F2F0749C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0"/>
            <a:ext cx="10972440" cy="282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0"/>
            <a:ext cx="10972440" cy="282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480" y="0"/>
            <a:ext cx="10972440" cy="282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609480" y="0"/>
            <a:ext cx="10972440" cy="282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7"/>
          <p:cNvSpPr/>
          <p:nvPr/>
        </p:nvSpPr>
        <p:spPr>
          <a:xfrm>
            <a:off x="0" y="6629400"/>
            <a:ext cx="4063680" cy="228240"/>
          </a:xfrm>
          <a:prstGeom prst="rect">
            <a:avLst/>
          </a:prstGeom>
          <a:solidFill>
            <a:srgbClr val="5024de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University of California, Berkeley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" name="Rectangle 9"/>
          <p:cNvSpPr/>
          <p:nvPr/>
        </p:nvSpPr>
        <p:spPr>
          <a:xfrm>
            <a:off x="3962520" y="6629400"/>
            <a:ext cx="4368600" cy="228240"/>
          </a:xfrm>
          <a:prstGeom prst="rect">
            <a:avLst/>
          </a:prstGeom>
          <a:solidFill>
            <a:srgbClr val="8574d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Confidential – DO NOT DISTRIBUTE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" name="Rectangle 10"/>
          <p:cNvSpPr/>
          <p:nvPr/>
        </p:nvSpPr>
        <p:spPr>
          <a:xfrm>
            <a:off x="8331120" y="6629400"/>
            <a:ext cx="3860280" cy="228240"/>
          </a:xfrm>
          <a:prstGeom prst="rect">
            <a:avLst/>
          </a:prstGeom>
          <a:solidFill>
            <a:srgbClr val="ada4e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MPC lab – HMC                                       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5024de"/>
                </a:solidFill>
                <a:latin typeface="Avenir"/>
              </a:rPr>
              <a:t>Click to edit Master title style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venir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venir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veni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venir"/>
              </a:rPr>
              <a:t>Third Outline Level</a:t>
            </a:r>
            <a:endParaRPr b="0" lang="en-US" sz="1500" spc="-1" strike="noStrike">
              <a:solidFill>
                <a:srgbClr val="000000"/>
              </a:solidFill>
              <a:latin typeface="Aveni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7"/>
          <p:cNvSpPr/>
          <p:nvPr/>
        </p:nvSpPr>
        <p:spPr>
          <a:xfrm>
            <a:off x="0" y="6629400"/>
            <a:ext cx="4063680" cy="228240"/>
          </a:xfrm>
          <a:prstGeom prst="rect">
            <a:avLst/>
          </a:prstGeom>
          <a:solidFill>
            <a:srgbClr val="5024de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University of California, Berkeley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42" name="Rectangle 9"/>
          <p:cNvSpPr/>
          <p:nvPr/>
        </p:nvSpPr>
        <p:spPr>
          <a:xfrm>
            <a:off x="3962520" y="6629400"/>
            <a:ext cx="4368600" cy="228240"/>
          </a:xfrm>
          <a:prstGeom prst="rect">
            <a:avLst/>
          </a:prstGeom>
          <a:solidFill>
            <a:srgbClr val="8574d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Confidential – DO NOT DISTRIBUTE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43" name="Rectangle 10"/>
          <p:cNvSpPr/>
          <p:nvPr/>
        </p:nvSpPr>
        <p:spPr>
          <a:xfrm>
            <a:off x="8331120" y="6629400"/>
            <a:ext cx="3860280" cy="228240"/>
          </a:xfrm>
          <a:prstGeom prst="rect">
            <a:avLst/>
          </a:prstGeom>
          <a:solidFill>
            <a:srgbClr val="ada4e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MPC lab – HMC                                       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85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5024de"/>
                </a:solidFill>
                <a:latin typeface="Avenir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203040" y="838080"/>
            <a:ext cx="11785320" cy="548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57040" indent="-25704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venir"/>
              </a:rPr>
              <a:t>Click to edit Master text styles</a:t>
            </a:r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  <a:p>
            <a:pPr lvl="1" marL="864000" indent="-324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venir"/>
              </a:rPr>
              <a:t>Second level</a:t>
            </a:r>
            <a:endParaRPr b="0" lang="en-US" sz="1800" spc="-1" strike="noStrike">
              <a:solidFill>
                <a:srgbClr val="000000"/>
              </a:solidFill>
              <a:latin typeface="Avenir"/>
            </a:endParaRPr>
          </a:p>
          <a:p>
            <a:pPr lvl="2" marL="1296000" indent="-288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venir"/>
              </a:rPr>
              <a:t>Third level</a:t>
            </a:r>
            <a:endParaRPr b="0" lang="en-US" sz="1800" spc="-1" strike="noStrike">
              <a:solidFill>
                <a:srgbClr val="000000"/>
              </a:solidFill>
              <a:latin typeface="Avenir"/>
            </a:endParaRPr>
          </a:p>
          <a:p>
            <a:pPr lvl="3" marL="1728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venir"/>
              </a:rPr>
              <a:t>Fourth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7"/>
          <p:cNvSpPr/>
          <p:nvPr/>
        </p:nvSpPr>
        <p:spPr>
          <a:xfrm>
            <a:off x="0" y="6629400"/>
            <a:ext cx="4063680" cy="228240"/>
          </a:xfrm>
          <a:prstGeom prst="rect">
            <a:avLst/>
          </a:prstGeom>
          <a:solidFill>
            <a:srgbClr val="5024de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University of California, Berkeley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3" name="Rectangle 9"/>
          <p:cNvSpPr/>
          <p:nvPr/>
        </p:nvSpPr>
        <p:spPr>
          <a:xfrm>
            <a:off x="3962520" y="6629400"/>
            <a:ext cx="4368600" cy="228240"/>
          </a:xfrm>
          <a:prstGeom prst="rect">
            <a:avLst/>
          </a:prstGeom>
          <a:solidFill>
            <a:srgbClr val="8574d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Confidential – DO NOT DISTRIBUTE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4" name="Rectangle 10"/>
          <p:cNvSpPr/>
          <p:nvPr/>
        </p:nvSpPr>
        <p:spPr>
          <a:xfrm>
            <a:off x="8331120" y="6629400"/>
            <a:ext cx="3860280" cy="228240"/>
          </a:xfrm>
          <a:prstGeom prst="rect">
            <a:avLst/>
          </a:prstGeom>
          <a:solidFill>
            <a:srgbClr val="ada4e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MPC lab – HMC                                       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venir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venir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veni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venir"/>
              </a:rPr>
              <a:t>Third Outline Level</a:t>
            </a:r>
            <a:endParaRPr b="0" lang="en-US" sz="1500" spc="-1" strike="noStrike">
              <a:solidFill>
                <a:srgbClr val="000000"/>
              </a:solidFill>
              <a:latin typeface="Aveni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7"/>
          <p:cNvSpPr/>
          <p:nvPr/>
        </p:nvSpPr>
        <p:spPr>
          <a:xfrm>
            <a:off x="0" y="6629400"/>
            <a:ext cx="4063680" cy="228240"/>
          </a:xfrm>
          <a:prstGeom prst="rect">
            <a:avLst/>
          </a:prstGeom>
          <a:solidFill>
            <a:srgbClr val="5024de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University of California, Berkeley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4" name="Rectangle 9"/>
          <p:cNvSpPr/>
          <p:nvPr/>
        </p:nvSpPr>
        <p:spPr>
          <a:xfrm>
            <a:off x="3962520" y="6629400"/>
            <a:ext cx="4368600" cy="228240"/>
          </a:xfrm>
          <a:prstGeom prst="rect">
            <a:avLst/>
          </a:prstGeom>
          <a:solidFill>
            <a:srgbClr val="8574d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Confidential – DO NOT DISTRIBUTE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5" name="Rectangle 10"/>
          <p:cNvSpPr/>
          <p:nvPr/>
        </p:nvSpPr>
        <p:spPr>
          <a:xfrm>
            <a:off x="8331120" y="6629400"/>
            <a:ext cx="3860280" cy="228240"/>
          </a:xfrm>
          <a:prstGeom prst="rect">
            <a:avLst/>
          </a:prstGeom>
          <a:solidFill>
            <a:srgbClr val="ada4e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MPC lab – HMC                                       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609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5024de"/>
                </a:solidFill>
                <a:latin typeface="Avenir"/>
              </a:rPr>
              <a:t>Click to edit Master title style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venir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veni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venir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veni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venir"/>
              </a:rPr>
              <a:t>Third Outline Level</a:t>
            </a:r>
            <a:endParaRPr b="0" lang="en-US" sz="1500" spc="-1" strike="noStrike">
              <a:solidFill>
                <a:srgbClr val="000000"/>
              </a:solidFill>
              <a:latin typeface="Aveni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wmf"/><Relationship Id="rId4" Type="http://schemas.openxmlformats.org/officeDocument/2006/relationships/image" Target="../media/image11.wmf"/><Relationship Id="rId5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wmf"/><Relationship Id="rId2" Type="http://schemas.openxmlformats.org/officeDocument/2006/relationships/image" Target="../media/image13.wmf"/><Relationship Id="rId3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.wmf"/><Relationship Id="rId2" Type="http://schemas.openxmlformats.org/officeDocument/2006/relationships/image" Target="../media/image15.wmf"/><Relationship Id="rId3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wmf"/><Relationship Id="rId2" Type="http://schemas.openxmlformats.org/officeDocument/2006/relationships/image" Target="../media/image17.wmf"/><Relationship Id="rId3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37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7"/>
          <p:cNvSpPr/>
          <p:nvPr/>
        </p:nvSpPr>
        <p:spPr>
          <a:xfrm>
            <a:off x="304920" y="1217520"/>
            <a:ext cx="11429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1f497d"/>
                </a:solidFill>
                <a:latin typeface="Avenir"/>
              </a:rPr>
              <a:t>MPC Lab – HMC Meeting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171" name="TextBox 6"/>
          <p:cNvSpPr/>
          <p:nvPr/>
        </p:nvSpPr>
        <p:spPr>
          <a:xfrm>
            <a:off x="2438280" y="2666880"/>
            <a:ext cx="7314840" cy="20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venir"/>
              </a:rPr>
              <a:t>Eric Choi, Mark Pustilnik, Hansung Kim, and Francesco Borrelli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venir"/>
              </a:rPr>
              <a:t>8/25/2025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72" name="Picture 2" descr=""/>
          <p:cNvPicPr/>
          <p:nvPr/>
        </p:nvPicPr>
        <p:blipFill>
          <a:blip r:embed="rId1"/>
          <a:stretch/>
        </p:blipFill>
        <p:spPr>
          <a:xfrm>
            <a:off x="9220320" y="0"/>
            <a:ext cx="1752120" cy="1042920"/>
          </a:xfrm>
          <a:prstGeom prst="rect">
            <a:avLst/>
          </a:prstGeom>
          <a:ln w="0">
            <a:noFill/>
          </a:ln>
        </p:spPr>
      </p:pic>
      <p:pic>
        <p:nvPicPr>
          <p:cNvPr id="173" name="Picture 4" descr="University of California, Berkeley - Wikipedia"/>
          <p:cNvPicPr/>
          <p:nvPr/>
        </p:nvPicPr>
        <p:blipFill>
          <a:blip r:embed="rId2"/>
          <a:stretch/>
        </p:blipFill>
        <p:spPr>
          <a:xfrm>
            <a:off x="11124360" y="49680"/>
            <a:ext cx="1042920" cy="104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4"/>
          <p:cNvSpPr/>
          <p:nvPr/>
        </p:nvSpPr>
        <p:spPr>
          <a:xfrm>
            <a:off x="304920" y="0"/>
            <a:ext cx="1097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Agenda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5" name="TextBox 5"/>
          <p:cNvSpPr/>
          <p:nvPr/>
        </p:nvSpPr>
        <p:spPr>
          <a:xfrm>
            <a:off x="533520" y="1066680"/>
            <a:ext cx="10667520" cy="39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Recap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Technical Updates</a:t>
            </a:r>
            <a:endParaRPr b="0" lang="en-US" sz="3200" spc="-1" strike="noStrike">
              <a:latin typeface="Arial"/>
            </a:endParaRPr>
          </a:p>
          <a:p>
            <a:pPr lvl="1" marL="10288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Sample data analysis</a:t>
            </a:r>
            <a:endParaRPr b="0" lang="en-US" sz="3200" spc="-1" strike="noStrike">
              <a:latin typeface="Arial"/>
            </a:endParaRPr>
          </a:p>
          <a:p>
            <a:pPr lvl="1" marL="10288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Suggest An energy Model to fit the dara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Discussion</a:t>
            </a:r>
            <a:endParaRPr b="0" lang="en-US" sz="3200" spc="-1" strike="noStrike">
              <a:latin typeface="Arial"/>
            </a:endParaRPr>
          </a:p>
          <a:p>
            <a:pPr lvl="1" marL="10288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Future Roles and Responsib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7"/>
          <p:cNvSpPr/>
          <p:nvPr/>
        </p:nvSpPr>
        <p:spPr>
          <a:xfrm>
            <a:off x="304920" y="2490480"/>
            <a:ext cx="11429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1f497d"/>
                </a:solidFill>
                <a:latin typeface="Avenir"/>
              </a:rPr>
              <a:t>Recap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Box 1"/>
          <p:cNvSpPr/>
          <p:nvPr/>
        </p:nvSpPr>
        <p:spPr>
          <a:xfrm>
            <a:off x="304920" y="0"/>
            <a:ext cx="1097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Project Overview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8" name="TextBox 2"/>
          <p:cNvSpPr/>
          <p:nvPr/>
        </p:nvSpPr>
        <p:spPr>
          <a:xfrm>
            <a:off x="228600" y="914400"/>
            <a:ext cx="11429640" cy="17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Objective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: Develop and validate a road grade-aware energy consumption estimation model for electric vehicles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Duration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: 7 months (June – December 2025)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79" name="Picture 14" descr=""/>
          <p:cNvPicPr/>
          <p:nvPr/>
        </p:nvPicPr>
        <p:blipFill>
          <a:blip r:embed="rId1"/>
          <a:stretch/>
        </p:blipFill>
        <p:spPr>
          <a:xfrm>
            <a:off x="4572000" y="4800600"/>
            <a:ext cx="3023640" cy="1714320"/>
          </a:xfrm>
          <a:prstGeom prst="rect">
            <a:avLst/>
          </a:prstGeom>
          <a:ln w="0">
            <a:noFill/>
          </a:ln>
        </p:spPr>
      </p:pic>
      <p:pic>
        <p:nvPicPr>
          <p:cNvPr id="180" name="Picture 16" descr=""/>
          <p:cNvPicPr/>
          <p:nvPr/>
        </p:nvPicPr>
        <p:blipFill>
          <a:blip r:embed="rId2"/>
          <a:stretch/>
        </p:blipFill>
        <p:spPr>
          <a:xfrm>
            <a:off x="7315200" y="3886200"/>
            <a:ext cx="1142640" cy="1124280"/>
          </a:xfrm>
          <a:prstGeom prst="rect">
            <a:avLst/>
          </a:prstGeom>
          <a:ln w="0">
            <a:noFill/>
          </a:ln>
        </p:spPr>
      </p:pic>
      <p:sp>
        <p:nvSpPr>
          <p:cNvPr id="181" name="Straight Arrow Connector 20"/>
          <p:cNvSpPr/>
          <p:nvPr/>
        </p:nvSpPr>
        <p:spPr>
          <a:xfrm flipH="1">
            <a:off x="6930000" y="4648320"/>
            <a:ext cx="456840" cy="304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000000"/>
            </a:solidFill>
            <a:round/>
            <a:tailEnd len="med" type="triangle" w="med"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"/>
          <p:cNvSpPr/>
          <p:nvPr/>
        </p:nvSpPr>
        <p:spPr>
          <a:xfrm>
            <a:off x="304920" y="0"/>
            <a:ext cx="1097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UCB Vehicle Platform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183" name="Content Placeholder 18" descr=""/>
          <p:cNvPicPr/>
          <p:nvPr/>
        </p:nvPicPr>
        <p:blipFill>
          <a:blip r:embed="rId1"/>
          <a:stretch/>
        </p:blipFill>
        <p:spPr>
          <a:xfrm>
            <a:off x="380880" y="1447920"/>
            <a:ext cx="5359680" cy="4033080"/>
          </a:xfrm>
          <a:prstGeom prst="rect">
            <a:avLst/>
          </a:prstGeom>
          <a:ln w="0">
            <a:noFill/>
          </a:ln>
        </p:spPr>
      </p:pic>
      <p:sp>
        <p:nvSpPr>
          <p:cNvPr id="184" name="TextBox 4"/>
          <p:cNvSpPr/>
          <p:nvPr/>
        </p:nvSpPr>
        <p:spPr>
          <a:xfrm>
            <a:off x="6095880" y="990720"/>
            <a:ext cx="5638320" cy="539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Model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: 2023 Hyundai IONIQ 5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Signals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: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Vehicle</a:t>
            </a:r>
            <a:endParaRPr b="0" lang="en-US" sz="2400" spc="-1" strike="noStrike">
              <a:latin typeface="Arial"/>
            </a:endParaRPr>
          </a:p>
          <a:p>
            <a:pPr lvl="1" marL="9144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Speed, wheel torque, etc.</a:t>
            </a:r>
            <a:endParaRPr b="0" lang="en-US" sz="24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Energy</a:t>
            </a:r>
            <a:endParaRPr b="0" lang="en-US" sz="2400" spc="-1" strike="noStrike">
              <a:latin typeface="Arial"/>
            </a:endParaRPr>
          </a:p>
          <a:p>
            <a:pPr lvl="1" marL="9144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High/Low voltage battery power, SOC, etc.</a:t>
            </a:r>
            <a:endParaRPr b="0" lang="en-US" sz="24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IMU</a:t>
            </a:r>
            <a:endParaRPr b="0" lang="en-US" sz="2400" spc="-1" strike="noStrike">
              <a:latin typeface="Arial"/>
            </a:endParaRPr>
          </a:p>
          <a:p>
            <a:pPr lvl="1" marL="9144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Accel., pitch angles, etc.</a:t>
            </a:r>
            <a:endParaRPr b="0" lang="en-US" sz="24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GPS</a:t>
            </a:r>
            <a:endParaRPr b="0" lang="en-US" sz="2400" spc="-1" strike="noStrike">
              <a:latin typeface="Arial"/>
            </a:endParaRPr>
          </a:p>
          <a:p>
            <a:pPr lvl="1" marL="9144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Latitude, Longitude, and Altitude</a:t>
            </a:r>
            <a:endParaRPr b="0" lang="en-US" sz="2400" spc="-1" strike="noStrike">
              <a:latin typeface="Arial"/>
            </a:endParaRPr>
          </a:p>
          <a:p>
            <a:pPr lvl="1" marL="9144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(optional) Altitude through Google or HERE API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17"/>
          <p:cNvSpPr/>
          <p:nvPr/>
        </p:nvSpPr>
        <p:spPr>
          <a:xfrm>
            <a:off x="304920" y="2490480"/>
            <a:ext cx="11429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1f497d"/>
                </a:solidFill>
                <a:latin typeface="Avenir"/>
              </a:rPr>
              <a:t>Literature Review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6"/>
          <p:cNvSpPr/>
          <p:nvPr/>
        </p:nvSpPr>
        <p:spPr>
          <a:xfrm>
            <a:off x="304920" y="0"/>
            <a:ext cx="1097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Academic Papers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7" name="TextBox 19"/>
          <p:cNvSpPr/>
          <p:nvPr/>
        </p:nvSpPr>
        <p:spPr>
          <a:xfrm>
            <a:off x="228600" y="914400"/>
            <a:ext cx="11429640" cy="48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There are many academic papers that try to model the effects of sloped road on EV range performance</a:t>
            </a:r>
            <a:endParaRPr b="0" lang="en-US" sz="2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Most give a general model and not a vehicle specific (based on mass and road grade)</a:t>
            </a:r>
            <a:endParaRPr b="0" lang="en-US" sz="2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Some standout papers:</a:t>
            </a:r>
            <a:endParaRPr b="0" lang="en-US" sz="28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Oriol Travesset-Baro, Transport energy consumption in mountainous roads. A comparative case study for internal combustion engines and electric vehicles in Andorra (2015) – Talk about the difference between powertrain types on  range performance on hilly road</a:t>
            </a:r>
            <a:endParaRPr b="0" lang="en-US" sz="18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Xiaodan Xu, A modal-based approach for estimating electric vehicle energy consumption in transportation networks (2019) -  statistically-based energy model derived from simulator</a:t>
            </a:r>
            <a:endParaRPr b="0" lang="en-US" sz="18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Heran Shen, An Experimental Comparison of Physics-based and Machine-Learning-based Electric Vehicle Energy Consumption Estimation Methods (2023) – suggests that ML methods superior in accuracy but only on roads with enough data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5"/>
          <p:cNvSpPr/>
          <p:nvPr/>
        </p:nvSpPr>
        <p:spPr>
          <a:xfrm>
            <a:off x="304920" y="2490480"/>
            <a:ext cx="11429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1f497d"/>
                </a:solidFill>
                <a:latin typeface="Avenir"/>
              </a:rPr>
              <a:t>Technical Update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"/>
          <p:cNvSpPr/>
          <p:nvPr/>
        </p:nvSpPr>
        <p:spPr>
          <a:xfrm>
            <a:off x="304920" y="0"/>
            <a:ext cx="1097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Sample Data Collection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0" name="TextBox 2"/>
          <p:cNvSpPr/>
          <p:nvPr/>
        </p:nvSpPr>
        <p:spPr>
          <a:xfrm>
            <a:off x="228600" y="914400"/>
            <a:ext cx="5714640" cy="47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Objective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: Collect representative driving data across flat, moderate, and steep road segments to capture diverse road grade effects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Route Selected: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Berkeley, California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Signals Evaluated: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Energy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Vehicle data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Road grade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91" name="Picture 4" descr=""/>
          <p:cNvPicPr/>
          <p:nvPr/>
        </p:nvPicPr>
        <p:blipFill>
          <a:blip r:embed="rId1"/>
          <a:stretch/>
        </p:blipFill>
        <p:spPr>
          <a:xfrm>
            <a:off x="5943600" y="609480"/>
            <a:ext cx="6019560" cy="556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"/>
          <p:cNvSpPr/>
          <p:nvPr/>
        </p:nvSpPr>
        <p:spPr>
          <a:xfrm>
            <a:off x="304920" y="0"/>
            <a:ext cx="1097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Energy Usage Measurement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228600" y="914400"/>
            <a:ext cx="11353320" cy="30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 this work, we measure energy consumption using the following high-voltage battery signals: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high-voltage battery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current,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high-voltage battery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voltage.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Additionally, we record auxiliary power usage (e.g., air conditioning and other onboard systems).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Box 1"/>
          <p:cNvSpPr/>
          <p:nvPr/>
        </p:nvSpPr>
        <p:spPr>
          <a:xfrm>
            <a:off x="304920" y="0"/>
            <a:ext cx="115819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Background: Factors Affecting EV Energy Consumption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5" name="TextBox 2"/>
          <p:cNvSpPr/>
          <p:nvPr/>
        </p:nvSpPr>
        <p:spPr>
          <a:xfrm>
            <a:off x="228600" y="914400"/>
            <a:ext cx="11353320" cy="47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Before discussing the impact of road grade on energy consumption, let’s consider the broader factors influencing a vehicle’s energy usage.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Road grade not only affects vehicle measurements, but vehicle behavior itself also plays a significant role in energy consumption.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From UC Berkeley’s previous studies on electric vehicle energy usage, higher driving speeds have been shown to lead to increased energy consumption.</a:t>
            </a:r>
            <a:endParaRPr b="0" lang="en-US" sz="2800" spc="-1" strike="noStrike">
              <a:latin typeface="Arial"/>
            </a:endParaRPr>
          </a:p>
          <a:p>
            <a:pPr lvl="1" marL="9144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Electric vehicles are less impacted by stop-and-go driving compared to internal combustion engine (ICE) vehicles.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5" descr=""/>
          <p:cNvPicPr/>
          <p:nvPr/>
        </p:nvPicPr>
        <p:blipFill>
          <a:blip r:embed="rId1"/>
          <a:stretch/>
        </p:blipFill>
        <p:spPr>
          <a:xfrm>
            <a:off x="990720" y="1143000"/>
            <a:ext cx="3266280" cy="4723920"/>
          </a:xfrm>
          <a:prstGeom prst="rect">
            <a:avLst/>
          </a:prstGeom>
          <a:ln w="0">
            <a:noFill/>
          </a:ln>
        </p:spPr>
      </p:pic>
      <p:sp>
        <p:nvSpPr>
          <p:cNvPr id="197" name="Oval 6"/>
          <p:cNvSpPr/>
          <p:nvPr/>
        </p:nvSpPr>
        <p:spPr>
          <a:xfrm>
            <a:off x="3276720" y="1295280"/>
            <a:ext cx="151920" cy="151920"/>
          </a:xfrm>
          <a:prstGeom prst="ellipse">
            <a:avLst/>
          </a:prstGeom>
          <a:solidFill>
            <a:srgbClr val="4f81bd"/>
          </a:solidFill>
          <a:ln w="25560">
            <a:solidFill>
              <a:srgbClr val="22385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Oval 7"/>
          <p:cNvSpPr/>
          <p:nvPr/>
        </p:nvSpPr>
        <p:spPr>
          <a:xfrm>
            <a:off x="2209680" y="4267080"/>
            <a:ext cx="151920" cy="151920"/>
          </a:xfrm>
          <a:prstGeom prst="ellipse">
            <a:avLst/>
          </a:prstGeom>
          <a:solidFill>
            <a:srgbClr val="c0504d"/>
          </a:solidFill>
          <a:ln w="25560">
            <a:solidFill>
              <a:srgbClr val="54232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Straight Connector 9"/>
          <p:cNvSpPr/>
          <p:nvPr/>
        </p:nvSpPr>
        <p:spPr>
          <a:xfrm flipH="1">
            <a:off x="2286000" y="1447560"/>
            <a:ext cx="1012680" cy="2841840"/>
          </a:xfrm>
          <a:prstGeom prst="line">
            <a:avLst/>
          </a:prstGeom>
          <a:ln w="57240">
            <a:solidFill>
              <a:srgbClr val="5024de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Box 17"/>
          <p:cNvSpPr/>
          <p:nvPr/>
        </p:nvSpPr>
        <p:spPr>
          <a:xfrm>
            <a:off x="3124080" y="838080"/>
            <a:ext cx="914040" cy="363960"/>
          </a:xfrm>
          <a:prstGeom prst="rect">
            <a:avLst/>
          </a:prstGeom>
          <a:solidFill>
            <a:srgbClr val="4f81bd"/>
          </a:solidFill>
          <a:ln w="25560">
            <a:solidFill>
              <a:srgbClr val="2238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START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1" name="TextBox 18"/>
          <p:cNvSpPr/>
          <p:nvPr/>
        </p:nvSpPr>
        <p:spPr>
          <a:xfrm>
            <a:off x="2362320" y="4495680"/>
            <a:ext cx="685440" cy="363960"/>
          </a:xfrm>
          <a:prstGeom prst="rect">
            <a:avLst/>
          </a:prstGeom>
          <a:solidFill>
            <a:srgbClr val="c0504d"/>
          </a:solidFill>
          <a:ln w="25560">
            <a:solidFill>
              <a:srgbClr val="5423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END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2" name="Google Shape;414;p50"/>
          <p:cNvSpPr/>
          <p:nvPr/>
        </p:nvSpPr>
        <p:spPr>
          <a:xfrm>
            <a:off x="4648320" y="838080"/>
            <a:ext cx="7314840" cy="49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t">
            <a:sp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The vehicle travels in a straight line for approximately 450 meters (0.28 miles).</a:t>
            </a:r>
            <a:endParaRPr b="0" lang="en-US" sz="2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In each experiment, we vary the vehicle's reference speed.</a:t>
            </a:r>
            <a:endParaRPr b="0" lang="en-US" sz="2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Instead of using a human driver, we designed a controller to maintain a constant reference speed, consistent acceleration, and deceleration for each run.</a:t>
            </a:r>
            <a:endParaRPr b="0" lang="en-US" sz="2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f497d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1f497d"/>
                </a:solidFill>
                <a:latin typeface="Calibri"/>
                <a:ea typeface="Calibri"/>
              </a:rPr>
              <a:t>Goal:</a:t>
            </a:r>
            <a:r>
              <a:rPr b="1" lang="en-US" sz="2800" spc="-1" strike="noStrike">
                <a:solidFill>
                  <a:srgbClr val="5024de"/>
                </a:solidFill>
                <a:latin typeface="Calibri"/>
                <a:ea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Observe how energy usage varies with different traveling speeds over the same distance.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03" name="TextBox 1"/>
          <p:cNvSpPr/>
          <p:nvPr/>
        </p:nvSpPr>
        <p:spPr>
          <a:xfrm>
            <a:off x="304920" y="0"/>
            <a:ext cx="115819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Background: Factors Affecting EV Energy Consumption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Picture 20" descr=""/>
          <p:cNvPicPr/>
          <p:nvPr/>
        </p:nvPicPr>
        <p:blipFill>
          <a:blip r:embed="rId1"/>
          <a:stretch/>
        </p:blipFill>
        <p:spPr>
          <a:xfrm>
            <a:off x="6549120" y="5638680"/>
            <a:ext cx="384480" cy="371160"/>
          </a:xfrm>
          <a:prstGeom prst="rect">
            <a:avLst/>
          </a:prstGeom>
          <a:ln w="0">
            <a:noFill/>
          </a:ln>
        </p:spPr>
      </p:pic>
      <p:pic>
        <p:nvPicPr>
          <p:cNvPr id="205" name="Picture 15" descr=""/>
          <p:cNvPicPr/>
          <p:nvPr/>
        </p:nvPicPr>
        <p:blipFill>
          <a:blip r:embed="rId2"/>
          <a:stretch/>
        </p:blipFill>
        <p:spPr>
          <a:xfrm>
            <a:off x="6477120" y="5267520"/>
            <a:ext cx="533160" cy="447120"/>
          </a:xfrm>
          <a:prstGeom prst="rect">
            <a:avLst/>
          </a:prstGeom>
          <a:ln w="0">
            <a:noFill/>
          </a:ln>
        </p:spPr>
      </p:pic>
      <p:sp>
        <p:nvSpPr>
          <p:cNvPr id="206" name="TextBox 21"/>
          <p:cNvSpPr/>
          <p:nvPr/>
        </p:nvSpPr>
        <p:spPr>
          <a:xfrm>
            <a:off x="76320" y="5265000"/>
            <a:ext cx="6095520" cy="82116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Latin Modern Roman"/>
              </a:rPr>
              <a:t>The same color corresponds to the same run for the two figures above.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7" name="TextBox 22"/>
          <p:cNvSpPr/>
          <p:nvPr/>
        </p:nvSpPr>
        <p:spPr>
          <a:xfrm>
            <a:off x="6477120" y="5308920"/>
            <a:ext cx="56383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Latin Modern Roman"/>
              </a:rPr>
              <a:t>     </a:t>
            </a:r>
            <a:r>
              <a:rPr b="0" lang="en-US" sz="2000" spc="-1" strike="noStrike">
                <a:solidFill>
                  <a:srgbClr val="000000"/>
                </a:solidFill>
                <a:latin typeface="Latin Modern Roman"/>
              </a:rPr>
              <a:t>: High Voltage Battery Usage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Latin Modern Roman"/>
              </a:rPr>
              <a:t>     </a:t>
            </a:r>
            <a:r>
              <a:rPr b="0" lang="en-US" sz="2000" spc="-1" strike="noStrike">
                <a:solidFill>
                  <a:srgbClr val="000000"/>
                </a:solidFill>
                <a:latin typeface="Latin Modern Roman"/>
              </a:rPr>
              <a:t>: High Voltage Battery Usage – Auxiliary Power Usage (Motion Energy)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208" name="Picture 2" descr=""/>
          <p:cNvPicPr/>
          <p:nvPr/>
        </p:nvPicPr>
        <p:blipFill>
          <a:blip r:embed="rId3"/>
          <a:stretch/>
        </p:blipFill>
        <p:spPr>
          <a:xfrm>
            <a:off x="228600" y="685800"/>
            <a:ext cx="5866920" cy="4400280"/>
          </a:xfrm>
          <a:prstGeom prst="rect">
            <a:avLst/>
          </a:prstGeom>
          <a:ln w="0">
            <a:noFill/>
          </a:ln>
        </p:spPr>
      </p:pic>
      <p:pic>
        <p:nvPicPr>
          <p:cNvPr id="209" name="Picture 7" descr=""/>
          <p:cNvPicPr/>
          <p:nvPr/>
        </p:nvPicPr>
        <p:blipFill>
          <a:blip r:embed="rId4"/>
          <a:stretch/>
        </p:blipFill>
        <p:spPr>
          <a:xfrm>
            <a:off x="5638680" y="685800"/>
            <a:ext cx="6019560" cy="4514400"/>
          </a:xfrm>
          <a:prstGeom prst="rect">
            <a:avLst/>
          </a:prstGeom>
          <a:ln w="0">
            <a:noFill/>
          </a:ln>
        </p:spPr>
      </p:pic>
      <p:sp>
        <p:nvSpPr>
          <p:cNvPr id="210" name="TextBox 1"/>
          <p:cNvSpPr/>
          <p:nvPr/>
        </p:nvSpPr>
        <p:spPr>
          <a:xfrm>
            <a:off x="304920" y="0"/>
            <a:ext cx="115819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Background: Factors Affecting EV Energy Consumption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7"/>
          <p:cNvSpPr/>
          <p:nvPr/>
        </p:nvSpPr>
        <p:spPr>
          <a:xfrm>
            <a:off x="380880" y="5269320"/>
            <a:ext cx="1142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Latin Modern Roman"/>
              </a:rPr>
              <a:t>The experiments were repeated with </a:t>
            </a:r>
            <a:r>
              <a:rPr b="1" lang="en-US" sz="1800" spc="-1" strike="noStrike">
                <a:solidFill>
                  <a:srgbClr val="1f497d"/>
                </a:solidFill>
                <a:latin typeface="Latin Modern Roman"/>
              </a:rPr>
              <a:t>AC usage averaging approximately 440 watts</a:t>
            </a:r>
            <a:r>
              <a:rPr b="0" lang="en-US" sz="1800" spc="-1" strike="noStrike">
                <a:solidFill>
                  <a:srgbClr val="000000"/>
                </a:solidFill>
                <a:latin typeface="Latin Modern Roman"/>
              </a:rPr>
              <a:t>.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212" name="Content Placeholder 8" descr=""/>
          <p:cNvPicPr/>
          <p:nvPr/>
        </p:nvPicPr>
        <p:blipFill>
          <a:blip r:embed="rId1"/>
          <a:stretch/>
        </p:blipFill>
        <p:spPr>
          <a:xfrm>
            <a:off x="6172200" y="1104840"/>
            <a:ext cx="5333760" cy="4000320"/>
          </a:xfrm>
          <a:prstGeom prst="rect">
            <a:avLst/>
          </a:prstGeom>
          <a:ln w="0">
            <a:noFill/>
          </a:ln>
        </p:spPr>
      </p:pic>
      <p:pic>
        <p:nvPicPr>
          <p:cNvPr id="213" name="Content Placeholder 4" descr=""/>
          <p:cNvPicPr/>
          <p:nvPr/>
        </p:nvPicPr>
        <p:blipFill>
          <a:blip r:embed="rId2"/>
          <a:stretch/>
        </p:blipFill>
        <p:spPr>
          <a:xfrm>
            <a:off x="685800" y="1066680"/>
            <a:ext cx="5333760" cy="4000320"/>
          </a:xfrm>
          <a:prstGeom prst="rect">
            <a:avLst/>
          </a:prstGeom>
          <a:ln w="0">
            <a:noFill/>
          </a:ln>
        </p:spPr>
      </p:pic>
      <p:sp>
        <p:nvSpPr>
          <p:cNvPr id="214" name="TextBox 1"/>
          <p:cNvSpPr/>
          <p:nvPr/>
        </p:nvSpPr>
        <p:spPr>
          <a:xfrm>
            <a:off x="304920" y="0"/>
            <a:ext cx="115819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Background: Factors Affecting EV Energy Consumption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Box 7"/>
          <p:cNvSpPr/>
          <p:nvPr/>
        </p:nvSpPr>
        <p:spPr>
          <a:xfrm>
            <a:off x="380880" y="5257800"/>
            <a:ext cx="11429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Latin Modern Roman"/>
              </a:rPr>
              <a:t>The experiments were repeated </a:t>
            </a:r>
            <a:r>
              <a:rPr b="1" lang="en-US" sz="1800" spc="-1" strike="noStrike">
                <a:solidFill>
                  <a:srgbClr val="1f497d"/>
                </a:solidFill>
                <a:latin typeface="Latin Modern Roman"/>
              </a:rPr>
              <a:t>without AC usage</a:t>
            </a:r>
            <a:r>
              <a:rPr b="0" lang="en-US" sz="1800" spc="-1" strike="noStrike">
                <a:solidFill>
                  <a:srgbClr val="000000"/>
                </a:solidFill>
                <a:latin typeface="Latin Modern Roman"/>
              </a:rPr>
              <a:t>. As a result, energy consumption decreased by </a:t>
            </a:r>
            <a:r>
              <a:rPr b="1" lang="en-US" sz="1800" spc="-1" strike="noStrike">
                <a:solidFill>
                  <a:srgbClr val="1f497d"/>
                </a:solidFill>
                <a:latin typeface="Latin Modern Roman"/>
              </a:rPr>
              <a:t>9.2% on average </a:t>
            </a:r>
            <a:r>
              <a:rPr b="0" lang="en-US" sz="1800" spc="-1" strike="noStrike">
                <a:solidFill>
                  <a:srgbClr val="000000"/>
                </a:solidFill>
                <a:latin typeface="Latin Modern Roman"/>
              </a:rPr>
              <a:t>in experiments without AC usage.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216" name="Content Placeholder 4" descr=""/>
          <p:cNvPicPr/>
          <p:nvPr/>
        </p:nvPicPr>
        <p:blipFill>
          <a:blip r:embed="rId1"/>
          <a:stretch/>
        </p:blipFill>
        <p:spPr>
          <a:xfrm>
            <a:off x="685800" y="1066680"/>
            <a:ext cx="5333760" cy="4000320"/>
          </a:xfrm>
          <a:prstGeom prst="rect">
            <a:avLst/>
          </a:prstGeom>
          <a:ln w="0">
            <a:noFill/>
          </a:ln>
        </p:spPr>
      </p:pic>
      <p:pic>
        <p:nvPicPr>
          <p:cNvPr id="217" name="Content Placeholder 4" descr=""/>
          <p:cNvPicPr/>
          <p:nvPr/>
        </p:nvPicPr>
        <p:blipFill>
          <a:blip r:embed="rId2"/>
          <a:stretch/>
        </p:blipFill>
        <p:spPr>
          <a:xfrm>
            <a:off x="6172200" y="1104840"/>
            <a:ext cx="5333760" cy="4000320"/>
          </a:xfrm>
          <a:prstGeom prst="rect">
            <a:avLst/>
          </a:prstGeom>
          <a:ln w="0">
            <a:noFill/>
          </a:ln>
        </p:spPr>
      </p:pic>
      <p:sp>
        <p:nvSpPr>
          <p:cNvPr id="218" name="TextBox 4"/>
          <p:cNvSpPr/>
          <p:nvPr/>
        </p:nvSpPr>
        <p:spPr>
          <a:xfrm>
            <a:off x="9220320" y="3886200"/>
            <a:ext cx="2437920" cy="63828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O: With AC usage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X: Without AC usage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9" name="TextBox 2"/>
          <p:cNvSpPr/>
          <p:nvPr/>
        </p:nvSpPr>
        <p:spPr>
          <a:xfrm>
            <a:off x="304920" y="0"/>
            <a:ext cx="115819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Background: Factors Affecting EV Energy Consumption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Box 7"/>
          <p:cNvSpPr/>
          <p:nvPr/>
        </p:nvSpPr>
        <p:spPr>
          <a:xfrm>
            <a:off x="380880" y="5257800"/>
            <a:ext cx="11429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Latin Modern Roman"/>
              </a:rPr>
              <a:t>The experiments were repeated </a:t>
            </a:r>
            <a:r>
              <a:rPr b="1" lang="en-US" sz="1800" spc="-1" strike="noStrike">
                <a:solidFill>
                  <a:srgbClr val="1f497d"/>
                </a:solidFill>
                <a:latin typeface="Latin Modern Roman"/>
              </a:rPr>
              <a:t>without AC usage</a:t>
            </a:r>
            <a:r>
              <a:rPr b="0" lang="en-US" sz="1800" spc="-1" strike="noStrike">
                <a:solidFill>
                  <a:srgbClr val="000000"/>
                </a:solidFill>
                <a:latin typeface="Latin Modern Roman"/>
              </a:rPr>
              <a:t>. As a result, energy consumption decreased by </a:t>
            </a:r>
            <a:r>
              <a:rPr b="1" lang="en-US" sz="1800" spc="-1" strike="noStrike">
                <a:solidFill>
                  <a:srgbClr val="1f497d"/>
                </a:solidFill>
                <a:latin typeface="Latin Modern Roman"/>
              </a:rPr>
              <a:t>9.2% on average </a:t>
            </a:r>
            <a:r>
              <a:rPr b="0" lang="en-US" sz="1800" spc="-1" strike="noStrike">
                <a:solidFill>
                  <a:srgbClr val="000000"/>
                </a:solidFill>
                <a:latin typeface="Latin Modern Roman"/>
              </a:rPr>
              <a:t>in experiments without AC usage.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221" name="Content Placeholder 4" descr=""/>
          <p:cNvPicPr/>
          <p:nvPr/>
        </p:nvPicPr>
        <p:blipFill>
          <a:blip r:embed="rId1"/>
          <a:stretch/>
        </p:blipFill>
        <p:spPr>
          <a:xfrm>
            <a:off x="685800" y="1066680"/>
            <a:ext cx="5333760" cy="4000320"/>
          </a:xfrm>
          <a:prstGeom prst="rect">
            <a:avLst/>
          </a:prstGeom>
          <a:ln w="0">
            <a:noFill/>
          </a:ln>
        </p:spPr>
      </p:pic>
      <p:pic>
        <p:nvPicPr>
          <p:cNvPr id="222" name="Content Placeholder 4" descr=""/>
          <p:cNvPicPr/>
          <p:nvPr/>
        </p:nvPicPr>
        <p:blipFill>
          <a:blip r:embed="rId2"/>
          <a:stretch/>
        </p:blipFill>
        <p:spPr>
          <a:xfrm>
            <a:off x="6172200" y="1104840"/>
            <a:ext cx="5333760" cy="4000320"/>
          </a:xfrm>
          <a:prstGeom prst="rect">
            <a:avLst/>
          </a:prstGeom>
          <a:ln w="0">
            <a:noFill/>
          </a:ln>
        </p:spPr>
      </p:pic>
      <p:sp>
        <p:nvSpPr>
          <p:cNvPr id="223" name="TextBox 4"/>
          <p:cNvSpPr/>
          <p:nvPr/>
        </p:nvSpPr>
        <p:spPr>
          <a:xfrm>
            <a:off x="9220320" y="3886200"/>
            <a:ext cx="2437920" cy="63828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O: With AC usage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X: Without AC usage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4" name="TextBox 2"/>
          <p:cNvSpPr/>
          <p:nvPr/>
        </p:nvSpPr>
        <p:spPr>
          <a:xfrm>
            <a:off x="304920" y="0"/>
            <a:ext cx="115819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Background: Factors Affecting EV Energy Consumption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5" name="Rectangle 5"/>
          <p:cNvSpPr/>
          <p:nvPr/>
        </p:nvSpPr>
        <p:spPr>
          <a:xfrm>
            <a:off x="76320" y="609480"/>
            <a:ext cx="12039120" cy="5943240"/>
          </a:xfrm>
          <a:prstGeom prst="rect">
            <a:avLst/>
          </a:prstGeom>
          <a:solidFill>
            <a:srgbClr val="0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Box 6"/>
          <p:cNvSpPr/>
          <p:nvPr/>
        </p:nvSpPr>
        <p:spPr>
          <a:xfrm>
            <a:off x="204840" y="2625120"/>
            <a:ext cx="11782440" cy="155268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Latin Modern Roman"/>
              </a:rPr>
              <a:t>Based on this experiment, when comparing the impact of road grade on energy consumption, it is important to account for: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Latin Modern Roman"/>
              </a:rPr>
              <a:t>Auxiliary power usage (e.g., air conditioning)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Latin Modern Roman"/>
              </a:rPr>
              <a:t>Vehicle speed (travel time)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Box 1"/>
          <p:cNvSpPr/>
          <p:nvPr/>
        </p:nvSpPr>
        <p:spPr>
          <a:xfrm>
            <a:off x="304920" y="0"/>
            <a:ext cx="1097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Sample Data Collection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28" name="Picture 4" descr=""/>
          <p:cNvPicPr/>
          <p:nvPr/>
        </p:nvPicPr>
        <p:blipFill>
          <a:blip r:embed="rId1"/>
          <a:stretch/>
        </p:blipFill>
        <p:spPr>
          <a:xfrm>
            <a:off x="457200" y="685800"/>
            <a:ext cx="6019560" cy="5563080"/>
          </a:xfrm>
          <a:prstGeom prst="rect">
            <a:avLst/>
          </a:prstGeom>
          <a:ln w="0">
            <a:noFill/>
          </a:ln>
        </p:spPr>
      </p:pic>
      <p:sp>
        <p:nvSpPr>
          <p:cNvPr id="229" name="TextBox 3"/>
          <p:cNvSpPr/>
          <p:nvPr/>
        </p:nvSpPr>
        <p:spPr>
          <a:xfrm>
            <a:off x="6553080" y="838080"/>
            <a:ext cx="16761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b050"/>
                </a:solidFill>
                <a:latin typeface="Calibri"/>
              </a:rPr>
              <a:t>Flat Road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30" name="TextBox 5"/>
          <p:cNvSpPr/>
          <p:nvPr/>
        </p:nvSpPr>
        <p:spPr>
          <a:xfrm>
            <a:off x="6553080" y="1295280"/>
            <a:ext cx="3504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c000"/>
                </a:solidFill>
                <a:latin typeface="Calibri"/>
              </a:rPr>
              <a:t>Moderate Road Grade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31" name="TextBox 6"/>
          <p:cNvSpPr/>
          <p:nvPr/>
        </p:nvSpPr>
        <p:spPr>
          <a:xfrm>
            <a:off x="6553080" y="1752480"/>
            <a:ext cx="3504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c00000"/>
                </a:solidFill>
                <a:latin typeface="Calibri"/>
              </a:rPr>
              <a:t>Steep Road Grade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32" name="Straight Connector 8"/>
          <p:cNvSpPr/>
          <p:nvPr/>
        </p:nvSpPr>
        <p:spPr>
          <a:xfrm flipV="1">
            <a:off x="3657600" y="2819160"/>
            <a:ext cx="685800" cy="76320"/>
          </a:xfrm>
          <a:prstGeom prst="line">
            <a:avLst/>
          </a:prstGeom>
          <a:ln w="76320">
            <a:solidFill>
              <a:srgbClr val="ffc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Straight Connector 10"/>
          <p:cNvSpPr/>
          <p:nvPr/>
        </p:nvSpPr>
        <p:spPr>
          <a:xfrm flipV="1">
            <a:off x="3886200" y="1752480"/>
            <a:ext cx="533160" cy="457200"/>
          </a:xfrm>
          <a:prstGeom prst="line">
            <a:avLst/>
          </a:prstGeom>
          <a:ln w="7632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Straight Connector 17"/>
          <p:cNvSpPr/>
          <p:nvPr/>
        </p:nvSpPr>
        <p:spPr>
          <a:xfrm flipV="1">
            <a:off x="2801160" y="3657600"/>
            <a:ext cx="703800" cy="111600"/>
          </a:xfrm>
          <a:prstGeom prst="line">
            <a:avLst/>
          </a:prstGeom>
          <a:ln w="76320">
            <a:solidFill>
              <a:srgbClr val="00b0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Box 27"/>
          <p:cNvSpPr/>
          <p:nvPr/>
        </p:nvSpPr>
        <p:spPr>
          <a:xfrm>
            <a:off x="6553080" y="2362320"/>
            <a:ext cx="5409720" cy="26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Total traveled distance: ~1000 m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Normalize all Recordings to 1000m travel distance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Normal Driving Mode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Regen Level 1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Box 9"/>
          <p:cNvSpPr/>
          <p:nvPr/>
        </p:nvSpPr>
        <p:spPr>
          <a:xfrm>
            <a:off x="304920" y="0"/>
            <a:ext cx="1097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Sample Data Collection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37" name="" descr=""/>
          <p:cNvPicPr/>
          <p:nvPr/>
        </p:nvPicPr>
        <p:blipFill>
          <a:blip r:embed="rId1"/>
          <a:stretch/>
        </p:blipFill>
        <p:spPr>
          <a:xfrm>
            <a:off x="457200" y="720000"/>
            <a:ext cx="10580040" cy="59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Box 8"/>
          <p:cNvSpPr/>
          <p:nvPr/>
        </p:nvSpPr>
        <p:spPr>
          <a:xfrm>
            <a:off x="304920" y="0"/>
            <a:ext cx="1097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Data Analysis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39" name="TextBox 12"/>
          <p:cNvSpPr/>
          <p:nvPr/>
        </p:nvSpPr>
        <p:spPr>
          <a:xfrm>
            <a:off x="228600" y="914400"/>
            <a:ext cx="11429640" cy="26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We look at the net battery power associated with driving the car – total battery energy consumption minus the AC power consumption: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energy of each section is normalized to 1[KM]: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240" name="" descr=""/>
          <p:cNvPicPr/>
          <p:nvPr/>
        </p:nvPicPr>
        <p:blipFill>
          <a:blip r:embed="rId1"/>
          <a:stretch/>
        </p:blipFill>
        <p:spPr>
          <a:xfrm>
            <a:off x="4114800" y="2057400"/>
            <a:ext cx="3580920" cy="618840"/>
          </a:xfrm>
          <a:prstGeom prst="rect">
            <a:avLst/>
          </a:prstGeom>
          <a:ln w="0">
            <a:noFill/>
          </a:ln>
        </p:spPr>
      </p:pic>
      <p:pic>
        <p:nvPicPr>
          <p:cNvPr id="241" name="" descr=""/>
          <p:cNvPicPr/>
          <p:nvPr/>
        </p:nvPicPr>
        <p:blipFill>
          <a:blip r:embed="rId2"/>
          <a:stretch/>
        </p:blipFill>
        <p:spPr>
          <a:xfrm>
            <a:off x="4800600" y="3610440"/>
            <a:ext cx="3524040" cy="119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Box 10"/>
          <p:cNvSpPr/>
          <p:nvPr/>
        </p:nvSpPr>
        <p:spPr>
          <a:xfrm>
            <a:off x="304920" y="0"/>
            <a:ext cx="1097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Data Analysis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43" name="" descr=""/>
          <p:cNvPicPr/>
          <p:nvPr/>
        </p:nvPicPr>
        <p:blipFill>
          <a:blip r:embed="rId1"/>
          <a:stretch/>
        </p:blipFill>
        <p:spPr>
          <a:xfrm>
            <a:off x="4046400" y="1032480"/>
            <a:ext cx="8069400" cy="4821840"/>
          </a:xfrm>
          <a:prstGeom prst="rect">
            <a:avLst/>
          </a:prstGeom>
          <a:ln w="0">
            <a:noFill/>
          </a:ln>
        </p:spPr>
      </p:pic>
      <p:sp>
        <p:nvSpPr>
          <p:cNvPr id="244" name="TextBox 11"/>
          <p:cNvSpPr/>
          <p:nvPr/>
        </p:nvSpPr>
        <p:spPr>
          <a:xfrm>
            <a:off x="305280" y="1032480"/>
            <a:ext cx="380952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mean Energy it takes to drive 1[Km] at a specific road slope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endParaRPr b="0" lang="en-US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measurements seem to fit a parabolic model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endParaRPr b="0" lang="en-US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Going uphill and down hill is not the same (not bias)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endParaRPr b="0" lang="en-US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Box 13"/>
          <p:cNvSpPr/>
          <p:nvPr/>
        </p:nvSpPr>
        <p:spPr>
          <a:xfrm>
            <a:off x="304920" y="0"/>
            <a:ext cx="1097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Data Analysis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46" name="TextBox 14"/>
          <p:cNvSpPr/>
          <p:nvPr/>
        </p:nvSpPr>
        <p:spPr>
          <a:xfrm>
            <a:off x="305280" y="1032480"/>
            <a:ext cx="380952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relative change in power consumption 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endParaRPr b="0" lang="en-US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Driving on a flat road is not the same as driving uphill and then downhill</a:t>
            </a:r>
            <a:endParaRPr b="0" lang="en-US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endParaRPr b="0" lang="en-US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It is a dominant factor in planning for EV route plannig 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47" name="" descr=""/>
          <p:cNvPicPr/>
          <p:nvPr/>
        </p:nvPicPr>
        <p:blipFill>
          <a:blip r:embed="rId1"/>
          <a:stretch/>
        </p:blipFill>
        <p:spPr>
          <a:xfrm>
            <a:off x="4114800" y="1032480"/>
            <a:ext cx="7935480" cy="466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Box 17"/>
          <p:cNvSpPr/>
          <p:nvPr/>
        </p:nvSpPr>
        <p:spPr>
          <a:xfrm>
            <a:off x="304920" y="2490480"/>
            <a:ext cx="11429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1f497d"/>
                </a:solidFill>
                <a:latin typeface="Avenir"/>
              </a:rPr>
              <a:t>Discussion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Box 1"/>
          <p:cNvSpPr/>
          <p:nvPr/>
        </p:nvSpPr>
        <p:spPr>
          <a:xfrm>
            <a:off x="304920" y="0"/>
            <a:ext cx="1097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Discussion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50" name="TextBox 3"/>
          <p:cNvSpPr/>
          <p:nvPr/>
        </p:nvSpPr>
        <p:spPr>
          <a:xfrm>
            <a:off x="228600" y="914400"/>
            <a:ext cx="11429640" cy="35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How general the model should be (different types of cars, different configurations)?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Will we be able to record some data for every car type to adapt the grade dependence model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What’s the accuracy we are looking for?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Next meeting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Midterm report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Box 20"/>
          <p:cNvSpPr/>
          <p:nvPr/>
        </p:nvSpPr>
        <p:spPr>
          <a:xfrm>
            <a:off x="304920" y="0"/>
            <a:ext cx="1097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f497d"/>
                </a:solidFill>
                <a:latin typeface="Avenir"/>
              </a:rPr>
              <a:t>Summery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52" name="TextBox 23"/>
          <p:cNvSpPr/>
          <p:nvPr/>
        </p:nvSpPr>
        <p:spPr>
          <a:xfrm>
            <a:off x="228600" y="914400"/>
            <a:ext cx="11429640" cy="30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Compare the road grade between car measurements to other data source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Collect more data points with different gen-level (level 3)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Talk to eric about “3d energy model predictor”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Midterm report  - send before 09/19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Next meeting - 09/23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advTm="9000" p14:dur="2000"/>
    </mc:Choice>
    <mc:Fallback>
      <p:transition spd="slow" advTm="9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109914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2011-11-11T18:56:57Z</dcterms:created>
  <dc:creator>Eric Choi</dc:creator>
  <dc:description/>
  <dc:language>en-US</dc:language>
  <cp:lastModifiedBy/>
  <dcterms:modified xsi:type="dcterms:W3CDTF">2025-09-09T10:23:23Z</dcterms:modified>
  <cp:revision>3436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Widescreen</vt:lpwstr>
  </property>
  <property fmtid="{D5CDD505-2E9C-101B-9397-08002B2CF9AE}" pid="4" name="Slides">
    <vt:r8>21</vt:r8>
  </property>
</Properties>
</file>